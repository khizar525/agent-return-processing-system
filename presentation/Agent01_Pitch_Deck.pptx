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4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18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4864" cy="13716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AGENT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D2FF"/>
                </a:solidFill>
                <a:latin typeface="Calibri"/>
              </a:defRPr>
            </a:pPr>
            <a:r>
              <a:t>Customer Support &amp; Returns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BD4"/>
                </a:solidFill>
                <a:latin typeface="Calibri"/>
              </a:defRPr>
            </a:pPr>
            <a:r>
              <a:t>Autonomous Resolution from Triage to Refund • Multi-Agent AI System • Production-Ready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27432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Team:  Khizar  •  Mustafa  •  Hammad  •  Ammar  •  Anas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BD4"/>
                </a:solidFill>
                <a:latin typeface="Calibri"/>
              </a:defRPr>
            </a:pPr>
            <a:r>
              <a:t>OpenAI Agents SDK  •  FastAPI  •  OpenRouter (Free Tier)  • 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20640"/>
            <a:ext cx="2286000" cy="411480"/>
          </a:xfrm>
          <a:prstGeom prst="roundRect">
            <a:avLst/>
          </a:prstGeom>
          <a:solidFill>
            <a:srgbClr val="00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1389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✅  STATUS: PRODUCTION-READY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Pain Point Analysis — Why This System?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747"/>
                </a:solidFill>
                <a:latin typeface="Calibri"/>
              </a:defRPr>
            </a:pPr>
            <a:r>
              <a:t>⚡  E-Commerce Support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High volume of repetitive inquiries (tracking, returns, billing)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Manual triage — costly human agents wasted on routine tickets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Slow resolution times — customers wait hours/days for simple answers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Inconsistent brand voice across support channels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Fraud detection gaps — return abuse goes unnoticed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Escalation context loss — customers repeat information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Rising operational costs with scaling support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🎯  Why This Is the Highest-ROI Starting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70% of support tickets are routine — fully automatable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Average ticket resolution: 2–5 days (manual) → &lt; 30s (AI)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Cost per ticket: $15–$40 (manual) → $0.00 (free-tier AI)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Return fraud rate: 10–15% → &lt; 2% with policy agent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Agent burnout eliminated for tier-1 repetitive work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24/7 availability — always-on, no business hours limit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Industry benchmarks: 60–80% cost reduction, +22pt CSAT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Before vs After — Impact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188720"/>
            <a:ext cx="292608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207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Without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292608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207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With This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188720"/>
            <a:ext cx="256032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2070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Improvement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00200"/>
            <a:ext cx="2560320" cy="54864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645920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Average Ticket Resolution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1600200"/>
            <a:ext cx="2926080" cy="54864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82112" y="1645920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47"/>
                </a:solidFill>
                <a:latin typeface="Calibri"/>
              </a:defRPr>
            </a:pPr>
            <a:r>
              <a:t>2–5 days (manual)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600200"/>
            <a:ext cx="2926080" cy="54864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1645920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&lt; 30 seconds (automated)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600200"/>
            <a:ext cx="2560320" cy="54864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645920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99.9% faster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194560"/>
            <a:ext cx="256032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240280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Cost per Ticket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2194560"/>
            <a:ext cx="292608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82112" y="2240280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47"/>
                </a:solidFill>
                <a:latin typeface="Calibri"/>
              </a:defRPr>
            </a:pPr>
            <a:r>
              <a:t>$15–$40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194560"/>
            <a:ext cx="292608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8192" y="2240280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$0.00 (free tier)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194560"/>
            <a:ext cx="256032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4272" y="2240280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100% savings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788920"/>
            <a:ext cx="2560320" cy="54864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2834640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Return Fraud 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2788920"/>
            <a:ext cx="2926080" cy="54864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82112" y="2834640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47"/>
                </a:solidFill>
                <a:latin typeface="Calibri"/>
              </a:defRPr>
            </a:pPr>
            <a:r>
              <a:t>10–15% of returns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788920"/>
            <a:ext cx="2926080" cy="54864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8192" y="2834640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&lt; 2% with policy 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788920"/>
            <a:ext cx="2560320" cy="54864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34272" y="2834640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80–87% reduction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383280"/>
            <a:ext cx="256032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3429000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Agent Burnout / Turnover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3383280"/>
            <a:ext cx="292608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82112" y="3429000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47"/>
                </a:solidFill>
                <a:latin typeface="Calibri"/>
              </a:defRPr>
            </a:pPr>
            <a:r>
              <a:t>High (repetitive work)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3383280"/>
            <a:ext cx="292608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08192" y="3429000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Eliminated for tier-1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3383280"/>
            <a:ext cx="256032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34272" y="3429000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Zero tier-1 burnout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977639"/>
            <a:ext cx="2560320" cy="54864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4023359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24/7 Availability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3977639"/>
            <a:ext cx="2926080" cy="54864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82112" y="4023359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47"/>
                </a:solidFill>
                <a:latin typeface="Calibri"/>
              </a:defRPr>
            </a:pPr>
            <a:r>
              <a:t>No (business hours only)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3977639"/>
            <a:ext cx="2926080" cy="54864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08192" y="4023359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Calibri"/>
              </a:defRPr>
            </a:pPr>
            <a:r>
              <a:t>Yes, always-on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20" y="3977639"/>
            <a:ext cx="2560320" cy="54864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34272" y="4023359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Full coverage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029200"/>
            <a:ext cx="109728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166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Industry Benchmarks (from spec)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5321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BD4"/>
                </a:solidFill>
                <a:latin typeface="Calibri"/>
              </a:defRPr>
            </a:pPr>
            <a:r>
              <a:t>This architecture reduces support costs by 60–80% and increases CSAT by 22 percentage points on average.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BD4"/>
                </a:solidFill>
                <a:latin typeface="Calibri"/>
              </a:defRPr>
            </a:pPr>
            <a:r>
              <a:t>A production-grade multi-agent system that autonomously handles the full lifecycle of customer inquiries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97480" cy="438912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031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Autonomous</a:t>
            </a:r>
            <a:br/>
            <a:r>
              <a:t>Triage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17520"/>
            <a:ext cx="2148840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Keyword-first classification routes every message to the right specialist — no human needed for 80%+ of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828800"/>
            <a:ext cx="2697480" cy="438912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E676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1031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Sub-30s</a:t>
            </a:r>
            <a:br/>
            <a:r>
              <a:t>Resolution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017520"/>
            <a:ext cx="2148840" cy="1828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320040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Routine cases resolved in under 30 seconds end-to-end, from triage to notification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828800"/>
            <a:ext cx="2697480" cy="438912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B700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21031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 Guardrails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79" y="3017520"/>
            <a:ext cx="2148840" cy="1828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320040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PII scrubbing, sentiment monitoring, refund capping, and brand voice enforcement protect every interaction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19" y="1828800"/>
            <a:ext cx="2697480" cy="438912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39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B86FC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19" y="21031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Full</a:t>
            </a:r>
            <a:br/>
            <a:r>
              <a:t>Observability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39" y="3017520"/>
            <a:ext cx="2148840" cy="1828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39" y="320040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Datadog APM, Kafka event streaming, CSAT pipeline, and Kubernetes-ready deployment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 — Manager + Handoff Hybrid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188720"/>
            <a:ext cx="5486400" cy="9144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2344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📩  Customer Message  →  FastAPI POST /webhook/message  →  Triage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5029200" cy="146304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🧠  Triage Orchestrator  (Keyword-First Classification)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1. Keyword matching → deterministic intent detection (zero cost)</a:t>
            </a:r>
            <a:br/>
            <a:r>
              <a:t>2. Optional LLM enrichment → better reasoning quality</a:t>
            </a:r>
            <a:br/>
            <a:r>
              <a:t>3. Dispatch table → tool execution or agent handoff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468880"/>
            <a:ext cx="5669280" cy="146304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00"/>
                </a:solidFill>
                <a:latin typeface="Calibri"/>
              </a:defRPr>
            </a:pPr>
            <a:r>
              <a:t>🛡️  Guardrails (Input Layer)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PII Scrubber — redacts credit cards, SSNs, bank accounts</a:t>
            </a:r>
            <a:br/>
            <a:r>
              <a:t>• Sentiment Monitor — scores 0.0–1.0, escalates at ≥ 0.8</a:t>
            </a:r>
            <a:br/>
            <a:r>
              <a:t>• Both run before triage — zero latency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2148840" cy="137160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805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🔍  Order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4632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→ tracking_lookup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212080"/>
            <a:ext cx="1188720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  Tool Call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4389120"/>
            <a:ext cx="2148840" cy="137160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44805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📦  Return 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4632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alibri"/>
              </a:defRPr>
            </a:pPr>
            <a:r>
              <a:t>→ check_return_policy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5212080"/>
            <a:ext cx="1188720" cy="27432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5212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  Tool 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389120"/>
            <a:ext cx="2148840" cy="137160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44805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💰  Billing Dispute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84632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B700"/>
                </a:solidFill>
                <a:latin typeface="Calibri"/>
              </a:defRPr>
            </a:pPr>
            <a:r>
              <a:t>→ BillingAgent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7800" y="5212080"/>
            <a:ext cx="1188720" cy="274320"/>
          </a:xfrm>
          <a:prstGeom prst="round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5212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  Handoff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4389120"/>
            <a:ext cx="2148840" cy="137160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44805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❓  General Inquiry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484632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86FC"/>
                </a:solidFill>
                <a:latin typeface="Calibri"/>
              </a:defRPr>
            </a:pPr>
            <a:r>
              <a:t>→ faq_lookup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43800" y="5212080"/>
            <a:ext cx="1188720" cy="27432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0" y="5212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Tool Call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40" y="4389120"/>
            <a:ext cx="2148840" cy="137160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44805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🚨  Edge Case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84632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747"/>
                </a:solidFill>
                <a:latin typeface="Calibri"/>
              </a:defRPr>
            </a:pPr>
            <a:r>
              <a:t>→ EscalationAgent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9800" y="5212080"/>
            <a:ext cx="1188720" cy="274320"/>
          </a:xfrm>
          <a:prstGeom prst="round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0" y="5212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  Handoff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BD4"/>
                </a:solidFill>
                <a:latin typeface="Calibri"/>
              </a:defRPr>
            </a:pPr>
            <a:r>
              <a:t>↓  Resolution Agent (Refund/Label/Replace)  →  Communication Agent (Email/SMS/Chat)  →  Escalation (if needed)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Flow &amp; State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🗄️  Session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Each conversation maintains a Session object (OpenAI Agents SDK)</a:t>
            </a:r>
          </a:p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Persists full turn history, tool call results, and agent handoff chain</a:t>
            </a:r>
          </a:p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Escalation Agent receives complete context bundle — no info lost</a:t>
            </a:r>
          </a:p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Session storage: Redis (TTL 24h active, 90 days audit archive)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🔑  State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customer_id — unique customer identifier</a:t>
            </a:r>
          </a:p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intent — classified intent (return, billing, tracking, etc.)</a:t>
            </a:r>
          </a:p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policy_decision — eligibility result from Policy Agent</a:t>
            </a:r>
          </a:p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resolution_action — refund, label, or replacement chosen</a:t>
            </a:r>
          </a:p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agent_chain — full sequence of agents that handled the request</a:t>
            </a:r>
          </a:p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timestamps — every handoff and tool call timestamped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1097280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t>📊  Tracing &amp; 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OpenAI Agents SDK built-in tracing enabled for full observability</a:t>
            </a:r>
          </a:p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Datadog APM: agent_span() for handoffs, tool_span() for tool calls</a:t>
            </a:r>
          </a:p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3 PagerDuty monitors: queue depth (&gt;500), error rate (&gt;5%), P95 latency (&gt;30s)</a:t>
            </a:r>
          </a:p>
          <a:p>
            <a:pPr>
              <a:spcAft>
                <a:spcPts val="800"/>
              </a:spcAft>
              <a:defRPr sz="1300">
                <a:solidFill>
                  <a:srgbClr val="B0BBD4"/>
                </a:solidFill>
                <a:latin typeface="Calibri"/>
              </a:defRPr>
            </a:pPr>
            <a:r>
              <a:t>CSAT pipeline: rolling score computation with Datadog metric emission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Decision: Keyword-First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8640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🎯  Why Keyword-First?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Deterministic — zero-cost intent detection (no LLM call needed)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Avoids SDK limitation: Runner.run() consumes tool results internally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Free model produces malformed JSON intermittently — code is reliable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LLM used ONLY for classification enrichment (its strength)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Tools executed deterministically in code (code's strength)</a:t>
            </a:r>
          </a:p>
          <a:p>
            <a:pPr>
              <a:spcAft>
                <a:spcPts val="800"/>
              </a:spcAft>
              <a:defRPr sz="1400">
                <a:solidFill>
                  <a:srgbClr val="B0BBD4"/>
                </a:solidFill>
                <a:latin typeface="Calibri"/>
              </a:defRPr>
            </a:pPr>
            <a:r>
              <a:t>New intents = one entry in _KEYWORD_RULES + _dispatch_tool()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30352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🔑  Keyword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0BBD4"/>
                </a:solidFill>
                <a:latin typeface="Calibri"/>
              </a:defRPr>
            </a:pPr>
            <a:r>
              <a:t>🚨  edge_case_escalate:</a:t>
            </a:r>
          </a:p>
          <a:p>
            <a:pPr>
              <a:spcAft>
                <a:spcPts val="200"/>
              </a:spcAft>
              <a:defRPr sz="1100">
                <a:solidFill>
                  <a:srgbClr val="B0BBD4"/>
                </a:solidFill>
                <a:latin typeface="Calibri"/>
              </a:defRPr>
            </a:pPr>
            <a:r>
              <a:t>     sue, lawyer, attorney, court, legal action, litigation</a:t>
            </a:r>
          </a:p>
          <a:p>
            <a:pPr>
              <a:spcAft>
                <a:spcPts val="200"/>
              </a:spcAft>
              <a:defRPr sz="1100">
                <a:solidFill>
                  <a:srgbClr val="B0BBD4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0BBD4"/>
                </a:solidFill>
                <a:latin typeface="Calibri"/>
              </a:defRPr>
            </a:pPr>
            <a:r>
              <a:t>📦  return_request:</a:t>
            </a:r>
          </a:p>
          <a:p>
            <a:pPr>
              <a:spcAft>
                <a:spcPts val="200"/>
              </a:spcAft>
              <a:defRPr sz="1100">
                <a:solidFill>
                  <a:srgbClr val="B0BBD4"/>
                </a:solidFill>
                <a:latin typeface="Calibri"/>
              </a:defRPr>
            </a:pPr>
            <a:r>
              <a:t>     return order, return item, send back, damaged, broken, wrong item</a:t>
            </a:r>
          </a:p>
          <a:p>
            <a:pPr>
              <a:spcAft>
                <a:spcPts val="200"/>
              </a:spcAft>
              <a:defRPr sz="1100">
                <a:solidFill>
                  <a:srgbClr val="B0BBD4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0BBD4"/>
                </a:solidFill>
                <a:latin typeface="Calibri"/>
              </a:defRPr>
            </a:pPr>
            <a:r>
              <a:t>💰  billing_dispute:</a:t>
            </a:r>
          </a:p>
          <a:p>
            <a:pPr>
              <a:spcAft>
                <a:spcPts val="200"/>
              </a:spcAft>
              <a:defRPr sz="1100">
                <a:solidFill>
                  <a:srgbClr val="B0BBD4"/>
                </a:solidFill>
                <a:latin typeface="Calibri"/>
              </a:defRPr>
            </a:pPr>
            <a:r>
              <a:t>     charged, billing, invoice, transaction, overcharged</a:t>
            </a:r>
          </a:p>
          <a:p>
            <a:pPr>
              <a:spcAft>
                <a:spcPts val="200"/>
              </a:spcAft>
              <a:defRPr sz="1100">
                <a:solidFill>
                  <a:srgbClr val="B0BBD4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0BBD4"/>
                </a:solidFill>
                <a:latin typeface="Calibri"/>
              </a:defRPr>
            </a:pPr>
            <a:r>
              <a:t>🔍  order_status:</a:t>
            </a:r>
          </a:p>
          <a:p>
            <a:pPr>
              <a:spcAft>
                <a:spcPts val="200"/>
              </a:spcAft>
              <a:defRPr sz="1100">
                <a:solidFill>
                  <a:srgbClr val="B0BBD4"/>
                </a:solidFill>
                <a:latin typeface="Calibri"/>
              </a:defRPr>
            </a:pPr>
            <a:r>
              <a:t>     track, where is, delivery, shipped, tracking, order status</a:t>
            </a:r>
          </a:p>
          <a:p>
            <a:pPr>
              <a:spcAft>
                <a:spcPts val="200"/>
              </a:spcAft>
              <a:defRPr sz="1100">
                <a:solidFill>
                  <a:srgbClr val="B0BBD4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0BBD4"/>
                </a:solidFill>
                <a:latin typeface="Calibri"/>
              </a:defRPr>
            </a:pPr>
            <a:r>
              <a:t>❓  general_inquiry: (fallback — anything not matched above)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520440" cy="24688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Khizar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Calibri"/>
              </a:defRPr>
            </a:pPr>
            <a:r>
              <a:t>Lead Developer &amp;</a:t>
            </a:r>
            <a:br/>
            <a:r>
              <a:t>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Triage Orchestrator design &amp;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9456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Session management &amp; Redis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774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Architecture decisions (ADR-001)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56032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CI/CD pipeline &amp; repo governance (CODEOWNERS)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Integration tests, billing agent, refund cap guardrail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2608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Tracking &amp; FAQ tooling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188720"/>
            <a:ext cx="3520440" cy="24688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6279" y="141732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39" y="13716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Mustafa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39" y="16916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alibri"/>
              </a:defRPr>
            </a:pPr>
            <a:r>
              <a:t>Policy &amp; Guardrails</a:t>
            </a:r>
            <a:br/>
            <a:r>
              <a:t>Specialist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01168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Policy agent — return eligibility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219456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PII Scrubber guardrail (credit cards, SSNs, bank accts)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23774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Sentiment Monitor guardrail (scoring + escalation)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256032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Database abstraction layer (3 backends)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274320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SQLAlchemy ORM models + DDL/seed scripts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292608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106 tests — the most comprehensive test suite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1188720"/>
            <a:ext cx="3520440" cy="24688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75319" y="1417320"/>
            <a:ext cx="457200" cy="45720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39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79" y="13716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Hammad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79" y="16916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B700"/>
                </a:solidFill>
                <a:latin typeface="Calibri"/>
              </a:defRPr>
            </a:pPr>
            <a:r>
              <a:t>Resolution &amp;</a:t>
            </a:r>
            <a:br/>
            <a:r>
              <a:t>Tool Integrations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201168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Resolution agent — refund, label, replacement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9" y="219456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CRM tools (customer profile lookups)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9" y="23774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Payment tools (Stripe refund processing)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9" y="256032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Shipping tools (return labels, replacements)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39" y="274320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E2E tool tests with respx mocks (44 tests)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39" y="292608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21 resolution agent tests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931920"/>
            <a:ext cx="3520440" cy="24688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41148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Ammar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44348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86FC"/>
                </a:solidFill>
                <a:latin typeface="Calibri"/>
              </a:defRPr>
            </a:pPr>
            <a:r>
              <a:t>Communication &amp;</a:t>
            </a:r>
            <a:br/>
            <a:r>
              <a:t>Escalation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475488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Communication agent — multi-channel notifications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493776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Escalation agent — human handoff with context bundle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1206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SendGrid/Twilio notification tooling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30352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Brand Voice guardrail (prohibited language, 150-word limit)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48640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Helpdesk tools (Zendesk ticket creation)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66928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14 comms &amp; escalation tests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79" y="3931920"/>
            <a:ext cx="3520440" cy="24688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26279" y="4160520"/>
            <a:ext cx="457200" cy="457200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1999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☁️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39" y="41148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0639" y="443484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9D"/>
                </a:solidFill>
                <a:latin typeface="Calibri"/>
              </a:defRPr>
            </a:pPr>
            <a:r>
              <a:t>Infrastructure &amp;</a:t>
            </a:r>
            <a:br/>
            <a:r>
              <a:t>Observability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1999" y="475488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Kafka event streaming (web_chat, email, whatsapp, sms)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1999" y="493776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Datadog APM instrumentation (spans, metrics)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1999" y="51206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3 PagerDuty-bound monitors (queue depth, error, latency)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1999" y="530352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CSAT pipeline with rolling score computation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1999" y="548640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Kubernetes manifests (deployment, service, HPA)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1999" y="566928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41 infra &amp; observability tests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Agents &amp;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46304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188720"/>
            <a:ext cx="91440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2070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188720"/>
            <a:ext cx="219456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2070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188720"/>
            <a:ext cx="320040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2070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188720"/>
            <a:ext cx="228600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207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Guardrails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554480"/>
            <a:ext cx="146304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1600200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Triage</a:t>
            </a:r>
            <a:br/>
            <a:r>
              <a:t>Orchestrator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1554480"/>
            <a:ext cx="91440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4832" y="1600200"/>
            <a:ext cx="768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Calibri"/>
              </a:defRPr>
            </a:pPr>
            <a:r>
              <a:t>Khizar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1554480"/>
            <a:ext cx="219456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9232" y="1600200"/>
            <a:ext cx="2048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Intent classification,</a:t>
            </a:r>
            <a:br/>
            <a:r>
              <a:t>routing, guardrails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554480"/>
            <a:ext cx="320040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2" y="1600200"/>
            <a:ext cx="3054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get_customer_profile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554480"/>
            <a:ext cx="228600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1600200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PII Scrubber</a:t>
            </a:r>
            <a:br/>
            <a:r>
              <a:t>Sentiment Monitor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212848"/>
            <a:ext cx="146304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2258568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Policy</a:t>
            </a:r>
            <a:br/>
            <a:r>
              <a:t>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2212848"/>
            <a:ext cx="91440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84832" y="2258568"/>
            <a:ext cx="768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Calibri"/>
              </a:defRPr>
            </a:pPr>
            <a:r>
              <a:t>Mustafa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2212848"/>
            <a:ext cx="219456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2258568"/>
            <a:ext cx="2048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Return policy</a:t>
            </a:r>
            <a:br/>
            <a:r>
              <a:t>eligibility checks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2212848"/>
            <a:ext cx="320040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2" y="2258568"/>
            <a:ext cx="3054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check_return_policy,</a:t>
            </a:r>
            <a:br/>
            <a:r>
              <a:t>get_customer_profile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212848"/>
            <a:ext cx="228600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2258568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871215"/>
            <a:ext cx="146304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2916935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Resolution</a:t>
            </a:r>
            <a:br/>
            <a:r>
              <a:t>Agent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0" y="2871215"/>
            <a:ext cx="91440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84832" y="2916935"/>
            <a:ext cx="768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Calibri"/>
              </a:defRPr>
            </a:pPr>
            <a:r>
              <a:t>Hammad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2871215"/>
            <a:ext cx="219456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9232" y="2916935"/>
            <a:ext cx="2048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Refund, label,</a:t>
            </a:r>
            <a:br/>
            <a:r>
              <a:t>replacement orders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2871215"/>
            <a:ext cx="320040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93792" y="2916935"/>
            <a:ext cx="3054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process_refund,</a:t>
            </a:r>
            <a:br/>
            <a:r>
              <a:t>create_return_label,</a:t>
            </a:r>
            <a:br/>
            <a:r>
              <a:t>create_replacement_order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2871215"/>
            <a:ext cx="228600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4192" y="2916935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Refund Cap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529584"/>
            <a:ext cx="146304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3575304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Billing</a:t>
            </a:r>
            <a:br/>
            <a:r>
              <a:t>Agent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0" y="3529584"/>
            <a:ext cx="91440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84832" y="3575304"/>
            <a:ext cx="768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Calibri"/>
              </a:defRPr>
            </a:pPr>
            <a:r>
              <a:t>Khizar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0" y="3529584"/>
            <a:ext cx="219456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99232" y="3575304"/>
            <a:ext cx="2048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Billing dispute</a:t>
            </a:r>
            <a:br/>
            <a:r>
              <a:t>resolution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3529584"/>
            <a:ext cx="320040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93792" y="3575304"/>
            <a:ext cx="3054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process_refund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3529584"/>
            <a:ext cx="228600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94192" y="3575304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Refund Cap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187952"/>
            <a:ext cx="146304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4233672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Communication</a:t>
            </a:r>
            <a:br/>
            <a:r>
              <a:t>Agent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11680" y="4187952"/>
            <a:ext cx="91440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84832" y="4233672"/>
            <a:ext cx="768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Calibri"/>
              </a:defRPr>
            </a:pPr>
            <a:r>
              <a:t>Ammar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6080" y="4187952"/>
            <a:ext cx="219456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99232" y="4233672"/>
            <a:ext cx="2048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Multi-channel</a:t>
            </a:r>
            <a:br/>
            <a:r>
              <a:t>notifications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20640" y="4187952"/>
            <a:ext cx="320040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93792" y="4233672"/>
            <a:ext cx="3054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send_notification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21040" y="4187952"/>
            <a:ext cx="2286000" cy="64008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94192" y="4233672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Brand Voice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4846320"/>
            <a:ext cx="146304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4892040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Escalation</a:t>
            </a:r>
            <a:br/>
            <a:r>
              <a:t>Agent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11680" y="4846320"/>
            <a:ext cx="91440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84832" y="4892040"/>
            <a:ext cx="768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Calibri"/>
              </a:defRPr>
            </a:pPr>
            <a:r>
              <a:t>Ammar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26080" y="4846320"/>
            <a:ext cx="219456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999232" y="4892040"/>
            <a:ext cx="20482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Human handoff</a:t>
            </a:r>
            <a:br/>
            <a:r>
              <a:t>with context bundle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20640" y="4846320"/>
            <a:ext cx="320040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93792" y="4892040"/>
            <a:ext cx="3054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create_human_ticket,</a:t>
            </a:r>
            <a:br/>
            <a:r>
              <a:t>log_resolution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1040" y="4846320"/>
            <a:ext cx="228600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94192" y="4892040"/>
            <a:ext cx="2139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48640" y="5486400"/>
            <a:ext cx="10972800" cy="8229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" y="5532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700"/>
                </a:solidFill>
                <a:latin typeface="Calibri"/>
              </a:defRPr>
            </a:pPr>
            <a:r>
              <a:t>🔗  Integration Targets (from spec)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BD4"/>
                </a:solidFill>
                <a:latin typeface="Calibri"/>
              </a:defRPr>
            </a:pPr>
            <a:r>
              <a:t>CRM API  •  Internal Rules Engine  •  FedEx/UPS API  •  Stripe/PayPal API  •  OMS API  •  SendGrid/Twilio  •  Zendesk/Freshdesk  •  Data Warehouse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Guardrails — Safety &amp; Quality (5 Layers)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520440" cy="237744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PII Scrubber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371600"/>
            <a:ext cx="822960" cy="2286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3898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F172A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Wired to: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5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Automatically detects and redacts sensitive data before any agent sees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68880"/>
            <a:ext cx="3154680" cy="1371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Credit cards • SSNs • Bank account numbers</a:t>
            </a:r>
            <a:br/>
            <a:r>
              <a:t>→ Replaced with [REDACTED]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188720"/>
            <a:ext cx="3520440" cy="237744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E676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79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Sentiment Monitor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7999" y="1371600"/>
            <a:ext cx="822960" cy="2286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19" y="13898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F172A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79" y="1645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Wired to: Triage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1965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Scores customer sentiment 0.0–1.0; escalates to human at &gt;= 0.8.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2468880"/>
            <a:ext cx="3154680" cy="1371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256032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alibri"/>
              </a:defRPr>
            </a:pPr>
            <a:r>
              <a:t>ALL CAPS (+0.3) • Legal keywords (+0.4) • Distress (+0.2)</a:t>
            </a:r>
            <a:br/>
            <a:r>
              <a:t>Profanity (+0.2) • !!! (+0.1–0.2)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1188720"/>
            <a:ext cx="3520440" cy="237744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B700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19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Refund Cap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07039" y="1371600"/>
            <a:ext cx="822960" cy="228600"/>
          </a:xfrm>
          <a:prstGeom prst="round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52759" y="13898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F172A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19" y="1645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Wired to: Resolution,</a:t>
            </a:r>
            <a:br/>
            <a:r>
              <a:t>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1965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Blocks refunds &gt; $500; requires human approval for large amounts.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599" y="2468880"/>
            <a:ext cx="3154680" cy="1371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9" y="256032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B700"/>
                </a:solidFill>
                <a:latin typeface="Calibri"/>
              </a:defRPr>
            </a:pPr>
            <a:r>
              <a:t>Any refund &gt; $500 USD → blocked with escalation</a:t>
            </a:r>
            <a:br/>
            <a:r>
              <a:t>Protects against abuse and financial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3840480"/>
            <a:ext cx="3520440" cy="237744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86FC"/>
                </a:solidFill>
                <a:latin typeface="Calibri"/>
              </a:defRPr>
            </a:pPr>
            <a:r>
              <a:t>🎙️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Brand Voice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0" y="4023360"/>
            <a:ext cx="822960" cy="22860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404164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F172A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4297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Wired to: Communication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46177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Enforces consistent brand tone across all customer communications.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5120640"/>
            <a:ext cx="3154680" cy="1371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0" y="521208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86FC"/>
                </a:solidFill>
                <a:latin typeface="Calibri"/>
              </a:defRPr>
            </a:pPr>
            <a:r>
              <a:t>Replaces prohibited language • Enforces 150-word limit</a:t>
            </a:r>
            <a:br/>
            <a:r>
              <a:t>Ensures professional, on-brand responses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840480"/>
            <a:ext cx="3520440" cy="237744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4747"/>
                </a:solidFill>
                <a:latin typeface="Calibri"/>
              </a:defRPr>
            </a:pPr>
            <a:r>
              <a:t>🕵️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Fraud Signal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78240" y="4023360"/>
            <a:ext cx="822960" cy="228600"/>
          </a:xfrm>
          <a:prstGeom prst="round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3960" y="404164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F172A"/>
                </a:solidFill>
                <a:latin typeface="Calibri"/>
              </a:defRPr>
            </a:pPr>
            <a:r>
              <a:t>Tool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297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Wired to: Policy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6177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Cross-references return request against fraud DB before approval.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5120640"/>
            <a:ext cx="3154680" cy="13716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21208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747"/>
                </a:solidFill>
                <a:latin typeface="Calibri"/>
              </a:defRPr>
            </a:pPr>
            <a:r>
              <a:t>get_fraud_db_match() checks customer history</a:t>
            </a:r>
            <a:br/>
            <a:r>
              <a:t>Fraud flag or DB match → escalate to human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Infrastructure &amp; Observability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2697480" cy="493776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Calibri"/>
              </a:defRPr>
            </a:pPr>
            <a:r>
              <a:t>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71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Kubernetes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1691640"/>
            <a:ext cx="914400" cy="2286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70992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  Anas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2240280" cy="1371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Deployment manifests (replicas, probes)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9631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Horizontal Pod Autoscaler (HPA)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52344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ConfigMap &amp; Secret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08376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Service discovery &amp; load balancing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188720"/>
            <a:ext cx="2697480" cy="493776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E676"/>
                </a:solidFill>
                <a:latin typeface="Calibri"/>
              </a:defRPr>
            </a:pPr>
            <a:r>
              <a:t>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1371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Kafka Event Streaming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1691640"/>
            <a:ext cx="914400" cy="2286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70992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  Anas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2103120"/>
            <a:ext cx="2240280" cy="1371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2402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4 consumer channels: web_chat, email,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49631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whatsapp, sms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752344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Async message processing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008376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Partition-based consumer groups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264408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At-least-once delivery guarantee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1188720"/>
            <a:ext cx="2697480" cy="493776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B70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79" y="1371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Datadog APM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79" y="1691640"/>
            <a:ext cx="914400" cy="228600"/>
          </a:xfrm>
          <a:prstGeom prst="round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599" y="170992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  Anas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59" y="2103120"/>
            <a:ext cx="2240280" cy="1371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59" y="22402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configure_datadog() auto-instrumentation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59" y="249631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Agent spans + tool spans per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2752344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Resolution recording 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59" y="3008376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3 PagerDuty monitors: queue depth,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3264408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error rate, P95 latency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19" y="1188720"/>
            <a:ext cx="2697480" cy="493776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19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B86FC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39" y="1371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CSAT Pipeline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21239" y="1691640"/>
            <a:ext cx="914400" cy="22860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66959" y="170992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  Anas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19" y="2103120"/>
            <a:ext cx="2240280" cy="1371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19" y="22402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Rolling CSAT score computation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19" y="249631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Datadog metric emission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19" y="2752344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Real-time customer satisfaction tracking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19" y="3008376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• Automated trend analysis &amp; alerts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6217920"/>
            <a:ext cx="10972800" cy="3657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67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62362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BD4"/>
                </a:solidFill>
                <a:latin typeface="Calibri"/>
              </a:defRPr>
            </a:pPr>
            <a:r>
              <a:t>🗄️  Session Store: Redis — 24h active TTL, 90d archive — zero context loss across handoffs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 Suite &amp;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Calibri"/>
              </a:defRPr>
            </a:pPr>
            <a:r>
              <a:t>353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TESTS PASSED — 0 SKIPPED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Mustafa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788920"/>
            <a:ext cx="4114800" cy="274320"/>
          </a:xfrm>
          <a:prstGeom prst="round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2788920"/>
            <a:ext cx="3434400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4560" y="2743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32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Policy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Hammad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291840"/>
            <a:ext cx="4114800" cy="274320"/>
          </a:xfrm>
          <a:prstGeom prst="round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88720" y="3291840"/>
            <a:ext cx="2106000" cy="27432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6160" y="3246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192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Resolution +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49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700"/>
                </a:solidFill>
                <a:latin typeface="Calibri"/>
              </a:defRPr>
            </a:pPr>
            <a:r>
              <a:t>Khizar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3794760"/>
            <a:ext cx="4114800" cy="274320"/>
          </a:xfrm>
          <a:prstGeom prst="round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88720" y="3794760"/>
            <a:ext cx="4114800" cy="274320"/>
          </a:xfrm>
          <a:prstGeom prst="round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3749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749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Billing + Database + Integration +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51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86FC"/>
                </a:solidFill>
                <a:latin typeface="Calibri"/>
              </a:defRPr>
            </a:pPr>
            <a:r>
              <a:t>Ammar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4297680"/>
            <a:ext cx="4114800" cy="274320"/>
          </a:xfrm>
          <a:prstGeom prst="round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88720" y="4297680"/>
            <a:ext cx="453600" cy="27432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3760" y="4251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9952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Comm &amp; Escalation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754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9D"/>
                </a:solidFill>
                <a:latin typeface="Calibri"/>
              </a:defRPr>
            </a:pPr>
            <a:r>
              <a:t>Anas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4800600"/>
            <a:ext cx="4114800" cy="274320"/>
          </a:xfrm>
          <a:prstGeom prst="round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88720" y="4800600"/>
            <a:ext cx="1328400" cy="274320"/>
          </a:xfrm>
          <a:prstGeom prst="round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08560" y="4754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432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Infra &amp; Observability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188720"/>
            <a:ext cx="5303520" cy="4389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✅  Quality Assurance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18288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BD4"/>
                </a:solidFill>
                <a:latin typeface="Calibri"/>
              </a:defRPr>
            </a:pPr>
            <a:r>
              <a:t>353 tests passed, 0 skipped, 0 failed — 100% pass rate</a:t>
            </a:r>
          </a:p>
          <a:p>
            <a:pPr>
              <a:spcAft>
                <a:spcPts val="400"/>
              </a:spcAft>
              <a:defRPr sz="1200">
                <a:solidFill>
                  <a:srgbClr val="B0BBD4"/>
                </a:solidFill>
                <a:latin typeface="Calibri"/>
              </a:defRPr>
            </a:pPr>
            <a:r>
              <a:t>9 test files covering every agent, tool, and guardrail</a:t>
            </a:r>
          </a:p>
          <a:p>
            <a:pPr>
              <a:spcAft>
                <a:spcPts val="400"/>
              </a:spcAft>
              <a:defRPr sz="1200">
                <a:solidFill>
                  <a:srgbClr val="B0BBD4"/>
                </a:solidFill>
                <a:latin typeface="Calibri"/>
              </a:defRPr>
            </a:pPr>
            <a:r>
              <a:t>Ruff linting (line-length=100) — zero warnings</a:t>
            </a:r>
          </a:p>
          <a:p>
            <a:pPr>
              <a:spcAft>
                <a:spcPts val="400"/>
              </a:spcAft>
              <a:defRPr sz="1200">
                <a:solidFill>
                  <a:srgbClr val="B0BBD4"/>
                </a:solidFill>
                <a:latin typeface="Calibri"/>
              </a:defRPr>
            </a:pPr>
            <a:r>
              <a:t>mypy strict mode type checking (Python 3.11+)</a:t>
            </a:r>
          </a:p>
          <a:p>
            <a:pPr>
              <a:spcAft>
                <a:spcPts val="400"/>
              </a:spcAft>
              <a:defRPr sz="1200">
                <a:solidFill>
                  <a:srgbClr val="B0BBD4"/>
                </a:solidFill>
                <a:latin typeface="Calibri"/>
              </a:defRPr>
            </a:pPr>
            <a:r>
              <a:t>Tool output contract enforced in every test</a:t>
            </a:r>
          </a:p>
          <a:p>
            <a:pPr>
              <a:spcAft>
                <a:spcPts val="400"/>
              </a:spcAft>
              <a:defRPr sz="1200">
                <a:solidFill>
                  <a:srgbClr val="B0BBD4"/>
                </a:solidFill>
                <a:latin typeface="Calibri"/>
              </a:defRPr>
            </a:pPr>
            <a:r>
              <a:t>Comprehensive edge cases: empty IDs, XSS, 10K-char inputs</a:t>
            </a:r>
          </a:p>
          <a:p>
            <a:pPr>
              <a:spcAft>
                <a:spcPts val="400"/>
              </a:spcAft>
              <a:defRPr sz="1200">
                <a:solidFill>
                  <a:srgbClr val="B0BBD4"/>
                </a:solidFill>
                <a:latin typeface="Calibri"/>
              </a:defRPr>
            </a:pPr>
            <a:r>
              <a:t>Mock-based E2E tests with respx for HTTP-dependent tools</a:t>
            </a:r>
          </a:p>
          <a:p>
            <a:pPr>
              <a:spcAft>
                <a:spcPts val="400"/>
              </a:spcAft>
              <a:defRPr sz="1200">
                <a:solidFill>
                  <a:srgbClr val="B0BBD4"/>
                </a:solidFill>
                <a:latin typeface="Calibri"/>
              </a:defRPr>
            </a:pPr>
            <a:r>
              <a:t>Database tests across all 3 backends (Memory, File, Postgres)</a:t>
            </a:r>
          </a:p>
          <a:p>
            <a:pPr>
              <a:spcAft>
                <a:spcPts val="400"/>
              </a:spcAft>
              <a:defRPr sz="1200">
                <a:solidFill>
                  <a:srgbClr val="B0BBD4"/>
                </a:solidFill>
                <a:latin typeface="Calibri"/>
              </a:defRPr>
            </a:pPr>
            <a:r>
              <a:t>Conventional commits: feat:, fix:, test:, docs:, refactor:</a:t>
            </a:r>
          </a:p>
          <a:p>
            <a:pPr>
              <a:spcAft>
                <a:spcPts val="400"/>
              </a:spcAft>
              <a:defRPr sz="1200">
                <a:solidFill>
                  <a:srgbClr val="B0BBD4"/>
                </a:solidFill>
                <a:latin typeface="Calibri"/>
              </a:defRPr>
            </a:pPr>
            <a:r>
              <a:t>CODEOWNERS auto-assigns Lead reviewer on all PRs</a:t>
            </a:r>
          </a:p>
          <a:p>
            <a:pPr>
              <a:spcAft>
                <a:spcPts val="400"/>
              </a:spcAft>
              <a:defRPr sz="1200">
                <a:solidFill>
                  <a:srgbClr val="B0BBD4"/>
                </a:solidFill>
                <a:latin typeface="Calibri"/>
              </a:defRPr>
            </a:pPr>
            <a:r>
              <a:t>Main branch protected — PRs require review + CI checks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486400"/>
            <a:ext cx="5029200" cy="640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532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ruff check . --fix  •  pytest tests/ -v  —  Pre-PR checklist (both must pass)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486400"/>
            <a:ext cx="5303520" cy="640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532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📋  Code Coverage: Policy, Resolution, Billing, Database, Infra, Integration, Tracking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Presentation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097280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🌐  Single-Page HTML Presentation — Zero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BD4"/>
                </a:solidFill>
                <a:latin typeface="Calibri"/>
              </a:defRPr>
            </a:pPr>
            <a:r>
              <a:t>frontend/index.html  •  Run: python -m http.server 3000  •  Backend on port 8000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77440"/>
            <a:ext cx="3108960" cy="1371600"/>
          </a:xfrm>
          <a:prstGeom prst="round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14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Dark Glassmorphism</a:t>
            </a:r>
            <a:br/>
            <a:r>
              <a:t>Theme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Animated gradient background</a:t>
            </a:r>
            <a:br/>
            <a:r>
              <a:t>with modern glass effects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377440"/>
            <a:ext cx="3108960" cy="1371600"/>
          </a:xfrm>
          <a:prstGeom prst="round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514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Live Chat</a:t>
            </a:r>
            <a:br/>
            <a:r>
              <a:t>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54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Wired to backend API</a:t>
            </a:r>
            <a:br/>
            <a:r>
              <a:t>POST /webhook/message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377440"/>
            <a:ext cx="3108960" cy="1371600"/>
          </a:xfrm>
          <a:prstGeom prst="round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514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  <a:br/>
            <a:r>
              <a:t>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154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Agent flow diagram with</a:t>
            </a:r>
            <a:br/>
            <a:r>
              <a:t>interactive routing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023360"/>
            <a:ext cx="3108960" cy="1371600"/>
          </a:xfrm>
          <a:prstGeom prst="round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160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 Scenario</a:t>
            </a:r>
            <a:br/>
            <a:r>
              <a:t>Runner Cards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00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Pre-built test scenarios</a:t>
            </a:r>
            <a:br/>
            <a:r>
              <a:t>for instant demos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023360"/>
            <a:ext cx="3108960" cy="1371600"/>
          </a:xfrm>
          <a:prstGeom prst="round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4160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 Guardrail</a:t>
            </a:r>
            <a:br/>
            <a:r>
              <a:t>Demos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800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Interactive: PII, sentiment,</a:t>
            </a:r>
            <a:br/>
            <a:r>
              <a:t>refund cap, brand voice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4023360"/>
            <a:ext cx="3108960" cy="1371600"/>
          </a:xfrm>
          <a:prstGeom prst="round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60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Routing Pipeline</a:t>
            </a:r>
            <a:br/>
            <a:r>
              <a:t>Panel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800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Real-time step visualization</a:t>
            </a:r>
            <a:br/>
            <a:r>
              <a:t>with intent detection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KPIs &amp; Performance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520440" cy="228600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First Response</a:t>
            </a:r>
            <a:br/>
            <a: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&lt; 3 seconds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606040"/>
            <a:ext cx="3063240" cy="1371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From message receipt</a:t>
            </a:r>
            <a:br/>
            <a:r>
              <a:t>to triage 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188720"/>
            <a:ext cx="3520440" cy="228600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E676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Full Resolution</a:t>
            </a:r>
            <a:br/>
            <a:r>
              <a:t>(Tier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76"/>
                </a:solidFill>
                <a:latin typeface="Calibri"/>
              </a:defRPr>
            </a:pPr>
            <a:r>
              <a:t>&lt; 30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79" y="2606040"/>
            <a:ext cx="3063240" cy="1371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26974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Triage to notification</a:t>
            </a:r>
            <a:br/>
            <a:r>
              <a:t>for routine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188720"/>
            <a:ext cx="3520440" cy="228600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B700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39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Automation</a:t>
            </a:r>
            <a:br/>
            <a:r>
              <a:t>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700"/>
                </a:solidFill>
                <a:latin typeface="Calibri"/>
              </a:defRPr>
            </a:pPr>
            <a:r>
              <a:t>&gt; 80%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19" y="2606040"/>
            <a:ext cx="3063240" cy="1371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26974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Percentage handled</a:t>
            </a:r>
            <a:br/>
            <a:r>
              <a:t>without human intervention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57600"/>
            <a:ext cx="3520440" cy="228600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B86FC"/>
                </a:solidFill>
                <a:latin typeface="Calibri"/>
              </a:defRPr>
            </a:pPr>
            <a:r>
              <a:t>🕵️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840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Fraud Detection</a:t>
            </a:r>
            <a:br/>
            <a:r>
              <a:t>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72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B86FC"/>
                </a:solidFill>
                <a:latin typeface="Calibri"/>
              </a:defRPr>
            </a:pPr>
            <a:r>
              <a:t>&gt; 95%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074920"/>
            <a:ext cx="3063240" cy="1371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1663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Return fraud flagged</a:t>
            </a:r>
            <a:br/>
            <a:r>
              <a:t>before processing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3657600"/>
            <a:ext cx="3520440" cy="228600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79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6B9D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199" y="3840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CSAT</a:t>
            </a:r>
            <a:br/>
            <a:r>
              <a:t>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79" y="4572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9D"/>
                </a:solidFill>
                <a:latin typeface="Calibri"/>
              </a:defRPr>
            </a:pPr>
            <a:r>
              <a:t>&gt; 4.5 / 5.0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6279" y="5074920"/>
            <a:ext cx="3063240" cy="13716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79" y="51663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Customer satisfaction</a:t>
            </a:r>
            <a:br/>
            <a:r>
              <a:t>rating target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19" y="3657600"/>
            <a:ext cx="3520440" cy="228600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19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39" y="3840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Cost per</a:t>
            </a:r>
            <a:br/>
            <a:r>
              <a:t>Ticket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4572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$0.00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19" y="5074920"/>
            <a:ext cx="3063240" cy="1371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9" y="51663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Free-tier LLM inference</a:t>
            </a:r>
            <a:br/>
            <a:r>
              <a:t>— no API costs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6035040"/>
            <a:ext cx="10972800" cy="411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67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6062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BD4"/>
                </a:solidFill>
                <a:latin typeface="Calibri"/>
              </a:defRPr>
            </a:pPr>
            <a:r>
              <a:t>Before: 2–5 day resolution, $15–$40/ticket, 10–15% fraud  →  After: &lt; 30s, $0.00, &lt; 2% fraud  —  All via OpenRouter free tier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Timeline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737360" cy="47548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  <a:br/>
            <a:r>
              <a:t>Foundation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1280160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842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Weeks 1–2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77440"/>
            <a:ext cx="1463040" cy="1371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Triage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Policy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Resolution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Core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1188720"/>
            <a:ext cx="1737360" cy="47548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1325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  <a:br/>
            <a:r>
              <a:t>Communication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1965960"/>
            <a:ext cx="1280160" cy="27432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19842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377440"/>
            <a:ext cx="1463040" cy="1371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2514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Communication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743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Brand 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2971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SendGrid 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1188720"/>
            <a:ext cx="1737360" cy="47548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1325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  <a:br/>
            <a:r>
              <a:t>Escalation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79" y="1965960"/>
            <a:ext cx="1280160" cy="274320"/>
          </a:xfrm>
          <a:prstGeom prst="round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1999" y="19842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39" y="2377440"/>
            <a:ext cx="1463040" cy="1371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39" y="2514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Escalation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39" y="2743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Zendesk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39" y="2971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Human Handoff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199" y="1188720"/>
            <a:ext cx="1737360" cy="47548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1325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  <a:br/>
            <a:r>
              <a:t>Guardrails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799" y="1965960"/>
            <a:ext cx="1280160" cy="27432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19" y="19842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2377440"/>
            <a:ext cx="1463040" cy="1371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2514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PII Scrubber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2743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Sentiment Monitor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2971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Refund Cap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19" y="1188720"/>
            <a:ext cx="1737360" cy="47548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79" y="1325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  <a:br/>
            <a:r>
              <a:t>Observability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75319" y="1965960"/>
            <a:ext cx="1280160" cy="274320"/>
          </a:xfrm>
          <a:prstGeom prst="round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39" y="19842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83879" y="2377440"/>
            <a:ext cx="1463040" cy="13716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79" y="2514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Datadog APM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2743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Kafka Streaming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2971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CSAT Pipeline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21240" y="1188720"/>
            <a:ext cx="1737360" cy="47548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0" y="1325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  <a:br/>
            <a:r>
              <a:t>Production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49840" y="1965960"/>
            <a:ext cx="1280160" cy="2743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95560" y="19842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Weeks 7–8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0" y="2377440"/>
            <a:ext cx="1463040" cy="1371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58400" y="2514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Load Testing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2743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Chaos Engineering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2971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✓ SLA Validation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BD4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6052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BD4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BD4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09559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BD4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BD4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6035040"/>
            <a:ext cx="10972800" cy="411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6062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✅  STATUS: ALL PHASES COMPLETE — Production-ready, 353 tests passing, all components implemented and tested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94960" cy="77724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280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AI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00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OpenAI Agents SDK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5394960" cy="77724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E676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API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FastAPI + Uvicorn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08960"/>
            <a:ext cx="5394960" cy="77724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B700"/>
                </a:solidFill>
                <a:latin typeface="Calibri"/>
              </a:defRPr>
            </a:pPr>
            <a:r>
              <a:t>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20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Python 3.11+ (strict typing)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5394960" cy="77724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86FC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LLM Provider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480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OpenRouter (free tier)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94960" cy="77724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6B9D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440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openai/gpt-oss-120b:free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188720"/>
            <a:ext cx="5394960" cy="77724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1280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Session 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600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Redis (24h TTL, 90d archive)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148840"/>
            <a:ext cx="5394960" cy="77724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E676"/>
                </a:solidFill>
                <a:latin typeface="Calibri"/>
              </a:defRPr>
            </a:pPr>
            <a:r>
              <a:t>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Message Queue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Kafka (4 channels)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108960"/>
            <a:ext cx="5394960" cy="77724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B70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520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Datadog APM + PagerDuty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069080"/>
            <a:ext cx="5394960" cy="77724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86FC"/>
                </a:solidFill>
                <a:latin typeface="Calibri"/>
              </a:defRPr>
            </a:pPr>
            <a:r>
              <a:t>☁️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Orchestration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480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Kubernetes (HPA, ConfigMap)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5029200"/>
            <a:ext cx="5394960" cy="77724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6B9D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BD4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440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PostgreSQL / File / Memory (3 backends)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035040"/>
            <a:ext cx="10972800" cy="411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6062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BD4"/>
                </a:solidFill>
                <a:latin typeface="Calibri"/>
              </a:defRPr>
            </a:pPr>
            <a:r>
              <a:t>🔧  Provider Compatibility: MultiProvider unknown_prefix_mode="model_id" + response_format stripped when tools present — works with any OpenAI-compatible API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API Provider Journey — Smart Fixes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097280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00"/>
                </a:solidFill>
                <a:latin typeface="Calibri"/>
              </a:defRPr>
            </a:pPr>
            <a:r>
              <a:t>🔄  Provider Evolution — From Paid to Free (Zero Cost)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91640"/>
            <a:ext cx="2377440" cy="10972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4747"/>
                </a:solidFill>
                <a:latin typeface="Calibri"/>
              </a:defRPr>
            </a:pPr>
            <a:r>
              <a:t>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GPT-4o /</a:t>
            </a:r>
            <a:br/>
            <a:r>
              <a:t>GPT-4o-mini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Paid</a:t>
            </a:r>
            <a:br/>
            <a:r>
              <a:t>$0.08–$0.30/ticket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691640"/>
            <a:ext cx="2377440" cy="10972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17373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700"/>
                </a:solidFill>
                <a:latin typeface="Calibri"/>
              </a:defRPr>
            </a:pPr>
            <a:r>
              <a:t>Attempt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920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DeepSeek</a:t>
            </a:r>
            <a:br/>
            <a:r>
              <a:t>v4-flash-free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Free but limited</a:t>
            </a:r>
            <a:br/>
            <a:r>
              <a:t>inconsistent 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2377440" cy="10972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700"/>
                </a:solidFill>
                <a:latin typeface="Calibri"/>
              </a:defRPr>
            </a:pPr>
            <a:r>
              <a:t>Attempt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20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Gemini 2.0</a:t>
            </a:r>
            <a:br/>
            <a:r>
              <a:t>Flash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Free via Google</a:t>
            </a:r>
            <a:br/>
            <a:r>
              <a:t>SDK compat issues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691640"/>
            <a:ext cx="2377440" cy="1097280"/>
          </a:xfrm>
          <a:prstGeom prst="roundRect">
            <a:avLst/>
          </a:prstGeom>
          <a:solidFill>
            <a:srgbClr val="1A233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7373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E676"/>
                </a:solidFill>
                <a:latin typeface="Calibri"/>
              </a:defRPr>
            </a:pPr>
            <a:r>
              <a:t>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920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OpenAI/</a:t>
            </a:r>
            <a:br/>
            <a:r>
              <a:t>gpt-oss-120b:free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Free via OpenRouter</a:t>
            </a:r>
            <a:br/>
            <a:r>
              <a:t>30 RPM, 1K RPD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BBD4"/>
                </a:solidFill>
                <a:latin typeface="Calibri"/>
              </a:defRPr>
            </a:pPr>
            <a:r>
              <a:t>  &gt;&gt;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BBD4"/>
                </a:solidFill>
                <a:latin typeface="Calibri"/>
              </a:defRPr>
            </a:pPr>
            <a:r>
              <a:t>  &gt;&gt;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BBD4"/>
                </a:solidFill>
                <a:latin typeface="Calibri"/>
              </a:defRPr>
            </a:pPr>
            <a:r>
              <a:t>  &gt;&gt;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200400"/>
            <a:ext cx="5303520" cy="91440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FF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24612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747"/>
                </a:solidFill>
                <a:latin typeface="Calibri"/>
              </a:defRPr>
            </a:pPr>
            <a:r>
              <a:t>Problem 1: Model Name Parsing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45643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Free providers use names with '/' (e.g. openai/gpt-oss-120b:free). The SDK's MultiProvider misinterprets '/' as a provider prefix — routes to wrong backend.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200400"/>
            <a:ext cx="5577840" cy="91440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2461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Smart Fix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45643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Fix: unknown_prefix_mode='model_id' — tells SDK to pass full model name through as-is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251960"/>
            <a:ext cx="5303520" cy="91440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2976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700"/>
                </a:solidFill>
                <a:latin typeface="Calibri"/>
              </a:defRPr>
            </a:pPr>
            <a:r>
              <a:t>Problem 2: response_format + Tools Conflict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0799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Free-tier providers (OpenRouter, Groq, Cerebras) reject requests combining structured output (response_format) with tool definitions. SDK sends both by default.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4251960"/>
            <a:ext cx="5577840" cy="91440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2976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Smart Fix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50799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Fix: Monkey-patch _fetch_response to strip output_schema when tools/handoffs are present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303520"/>
            <a:ext cx="5303520" cy="91440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34924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Calibri"/>
              </a:defRPr>
            </a:pPr>
            <a:r>
              <a:t>Problem 3: Responses API Not Supported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55955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The SDK defaults to OpenAI's Responses API, which free providers don't support. All requests fail with 404/405 errors.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5303520"/>
            <a:ext cx="5577840" cy="914400"/>
          </a:xfrm>
          <a:prstGeom prst="roundRect">
            <a:avLst/>
          </a:prstGeom>
          <a:solidFill>
            <a:srgbClr val="1A233F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53492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Smart Fix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55955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BD4"/>
                </a:solidFill>
                <a:latin typeface="Calibri"/>
              </a:defRPr>
            </a:pPr>
            <a:r>
              <a:t>Fix: set_default_openai_api('chat_completions') — forces Chat Completions API at startup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Requirements Compliance — 100%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E67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ALL REQUIREMENTS MET OR EXCEEDED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1828800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070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Component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188720"/>
            <a:ext cx="2286000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2070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Spec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188720"/>
            <a:ext cx="1645920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2070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Delivered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188720"/>
            <a:ext cx="1645920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2070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1188720"/>
            <a:ext cx="2926080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12070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Delta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554480"/>
            <a:ext cx="182880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15727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Agents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1554480"/>
            <a:ext cx="228600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160" y="15727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5 defined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554480"/>
            <a:ext cx="164592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572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6 built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1554480"/>
            <a:ext cx="164592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1572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1554480"/>
            <a:ext cx="292608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15727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+1 Billing 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1938528"/>
            <a:ext cx="182880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19568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1938528"/>
            <a:ext cx="228600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19568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8 defined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1938528"/>
            <a:ext cx="164592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195681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10 built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1938528"/>
            <a:ext cx="164592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195681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1938528"/>
            <a:ext cx="292608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95681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+tracking_lookup, faq_lookup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2322576"/>
            <a:ext cx="182880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234086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Guardrails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2322576"/>
            <a:ext cx="228600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23160" y="234086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5 defined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2322576"/>
            <a:ext cx="164592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234086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4 built + fraud in tools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2322576"/>
            <a:ext cx="164592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95160" y="234086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60" y="2322576"/>
            <a:ext cx="292608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1080" y="234086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Fraud in check_return_policy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2706624"/>
            <a:ext cx="182880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27249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Handoff Flow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77440" y="2706624"/>
            <a:ext cx="228600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23160" y="27249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Diagram specified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3440" y="2706624"/>
            <a:ext cx="164592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09160" y="27249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Implemented exactly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9440" y="2706624"/>
            <a:ext cx="164592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95160" y="27249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95360" y="2706624"/>
            <a:ext cx="292608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41080" y="27249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Keyword-first enhancement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3090672"/>
            <a:ext cx="182880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3108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Session Store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77440" y="3090672"/>
            <a:ext cx="228600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23160" y="3108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Redis specified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3090672"/>
            <a:ext cx="164592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09160" y="3108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Redis + 3 DB backends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9440" y="3090672"/>
            <a:ext cx="164592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95160" y="3108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95360" y="3090672"/>
            <a:ext cx="292608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41080" y="3108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Postgres/File/Memory added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3474720"/>
            <a:ext cx="182880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LLM Model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77440" y="3474720"/>
            <a:ext cx="228600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23160" y="3493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GPT-4o / GPT-4o-mini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63440" y="3474720"/>
            <a:ext cx="164592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09160" y="3493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gpt-oss-120b:free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49440" y="3474720"/>
            <a:ext cx="164592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95160" y="3493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2FF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95360" y="3474720"/>
            <a:ext cx="292608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41080" y="3493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$0.00 cost vs $0.08-0.30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3858768"/>
            <a:ext cx="182880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4360" y="38770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K8s Manifests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77440" y="3858768"/>
            <a:ext cx="228600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23160" y="387705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Deployment, HPA, etc.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63440" y="3858768"/>
            <a:ext cx="164592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09160" y="38770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5 manifests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49440" y="3858768"/>
            <a:ext cx="164592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95160" y="38770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95360" y="3858768"/>
            <a:ext cx="292608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41080" y="38770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Exact match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" y="4242816"/>
            <a:ext cx="182880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4360" y="426110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Kafka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77440" y="4242816"/>
            <a:ext cx="228600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423160" y="42611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Topic per channel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63440" y="4242816"/>
            <a:ext cx="164592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709160" y="426110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4 consumers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949440" y="4242816"/>
            <a:ext cx="164592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95160" y="426110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595360" y="4242816"/>
            <a:ext cx="292608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41080" y="42611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Exact match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8640" y="4626864"/>
            <a:ext cx="182880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4360" y="4645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Datadog APM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377440" y="4626864"/>
            <a:ext cx="228600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423160" y="4645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Tracing + monitoring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63440" y="4626864"/>
            <a:ext cx="164592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09160" y="46451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Spans + 3 monitors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949440" y="4626864"/>
            <a:ext cx="164592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995160" y="46451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595360" y="4626864"/>
            <a:ext cx="2926080" cy="365760"/>
          </a:xfrm>
          <a:prstGeom prst="rect">
            <a:avLst/>
          </a:prstGeom>
          <a:solidFill>
            <a:srgbClr val="1A233F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641080" y="46451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Exact match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640" y="5010912"/>
            <a:ext cx="182880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4360" y="5029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CSAT Pipeline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377440" y="5010912"/>
            <a:ext cx="228600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423160" y="5029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Phase 5 deliverable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63440" y="5010912"/>
            <a:ext cx="164592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709160" y="5029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261-line implementation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949440" y="5010912"/>
            <a:ext cx="164592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995160" y="5029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595360" y="5010912"/>
            <a:ext cx="2926080" cy="365760"/>
          </a:xfrm>
          <a:prstGeom prst="rect">
            <a:avLst/>
          </a:prstGeom>
          <a:solidFill>
            <a:srgbClr val="16213E"/>
          </a:solidFill>
          <a:ln w="635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5029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Fully implemented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48640" y="5486400"/>
            <a:ext cx="10972800" cy="548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Calibri"/>
              </a:defRPr>
            </a:pPr>
            <a:r>
              <a:t>All 15 components verified against Agent_01_Customer_Support_Returns_Orchestrator.docx — every requirement met or exceeded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46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Beyond the Spec — What We Added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8640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  Additions (Not in Original Spec)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Billing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M5 agent for billing disputes — extended triage to cover billing intents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tracking_lookup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243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Real-time order tracking — supports order_status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faq_lookup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FAQ search — supports general_inquiry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Keyword-First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30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Deterministic intent detection — zero-cost, avoids SDK 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Database Abstraction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33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3 backends (Postgres, File, Memory) — flexible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CSAT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360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Rolling CSAT computation with Datadog metrics — real-time satisfaction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377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Presentation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389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Full interactive HTML frontend — live chat, scenario runner, guardrail demos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  353-Test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41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BD4"/>
                </a:solidFill>
                <a:latin typeface="Calibri"/>
              </a:defRPr>
            </a:pPr>
            <a:r>
              <a:t>Comprehensive tests across all agents, tools, guardrails — 100% pass 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188720"/>
            <a:ext cx="530352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💰  Cost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19202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BD4"/>
                </a:solidFill>
                <a:latin typeface="Calibri"/>
              </a:defRPr>
            </a:pPr>
            <a:r>
              <a:t>  Spec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1214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00"/>
                </a:solidFill>
                <a:latin typeface="Calibri"/>
              </a:defRPr>
            </a:pPr>
            <a:r>
              <a:t>$0.08 – $0.30  per ticket (GPT-4o API cost)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5146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BD4"/>
                </a:solidFill>
                <a:latin typeface="Calibri"/>
              </a:defRPr>
            </a:pPr>
            <a:r>
              <a:t>  Our Implementation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157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$0.00  per ticket (OpenRouter free tier)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1089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BD4"/>
                </a:solidFill>
                <a:latin typeface="Calibri"/>
              </a:defRPr>
            </a:pPr>
            <a:r>
              <a:t>  Annual Savings (10K tickets)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3101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$800 – $3,000  vs. spec target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703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BD4"/>
                </a:solidFill>
                <a:latin typeface="Calibri"/>
              </a:defRPr>
            </a:pPr>
            <a:r>
              <a:t>  CSAT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9044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&gt; 4.5 / 5.0  Spec requirement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2976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BD4"/>
                </a:solidFill>
                <a:latin typeface="Calibri"/>
              </a:defRPr>
            </a:pPr>
            <a:r>
              <a:t>  Automation 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&gt; 80%  Spec requirement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892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BD4"/>
                </a:solidFill>
                <a:latin typeface="Calibri"/>
              </a:defRPr>
            </a:pPr>
            <a:r>
              <a:t>  Resolution Target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0932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&lt; 30 seconds  Spec requirement (Tier 1)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BD4"/>
                </a:solidFill>
                <a:latin typeface="Calibri"/>
              </a:defRPr>
            </a:pPr>
            <a:r>
              <a:t>Agent 01 — Customer Support &amp; Returns Orchestrator | 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4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14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8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Calibri"/>
              </a:defRPr>
            </a:pPr>
            <a:r>
              <a:t>Customer Support &amp; Returns Orchestrator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474720"/>
            <a:ext cx="21031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3749039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BD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11" name="Oval 10"/>
          <p:cNvSpPr/>
          <p:nvPr/>
        </p:nvSpPr>
        <p:spPr>
          <a:xfrm>
            <a:off x="2926080" y="438912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4434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892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BD4"/>
                </a:solidFill>
                <a:latin typeface="Calibri"/>
              </a:defRPr>
            </a:pPr>
            <a:r>
              <a:t>Khizar</a:t>
            </a:r>
          </a:p>
        </p:txBody>
      </p:sp>
      <p:sp>
        <p:nvSpPr>
          <p:cNvPr id="14" name="Oval 13"/>
          <p:cNvSpPr/>
          <p:nvPr/>
        </p:nvSpPr>
        <p:spPr>
          <a:xfrm>
            <a:off x="4297680" y="438912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4434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892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BD4"/>
                </a:solidFill>
                <a:latin typeface="Calibri"/>
              </a:defRPr>
            </a:pPr>
            <a:r>
              <a:t>Mustafa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0" y="4389120"/>
            <a:ext cx="457200" cy="45720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4434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892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BD4"/>
                </a:solidFill>
                <a:latin typeface="Calibri"/>
              </a:defRPr>
            </a:pPr>
            <a:r>
              <a:t>Hammad</a:t>
            </a:r>
          </a:p>
        </p:txBody>
      </p:sp>
      <p:sp>
        <p:nvSpPr>
          <p:cNvPr id="20" name="Oval 19"/>
          <p:cNvSpPr/>
          <p:nvPr/>
        </p:nvSpPr>
        <p:spPr>
          <a:xfrm>
            <a:off x="7040880" y="4389120"/>
            <a:ext cx="457200" cy="45720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434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892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BD4"/>
                </a:solidFill>
                <a:latin typeface="Calibri"/>
              </a:defRPr>
            </a:pPr>
            <a:r>
              <a:t>Ammar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0" y="4389120"/>
            <a:ext cx="457200" cy="457200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434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892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BD4"/>
                </a:solidFill>
                <a:latin typeface="Calibri"/>
              </a:defRPr>
            </a:pPr>
            <a:r>
              <a:t>Anas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BD4"/>
                </a:solidFill>
                <a:latin typeface="Calibri"/>
              </a:defRPr>
            </a:pPr>
            <a:r>
              <a:t>github.com/your-org/agent-01-customer-support  •  Built with OpenAI Agents SDK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