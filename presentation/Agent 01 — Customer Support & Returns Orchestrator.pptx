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Liter" charset="-122" pitchFamily="34"/>
      <p:regular r:id="rId27"/>
    </p:embeddedFont>
    <p:embeddedFont>
      <p:font typeface="Quattrocento Sans" charset="-122" pitchFamily="34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2954000" y="-1524000"/>
            <a:ext cx="4826000" cy="4826000"/>
          </a:xfrm>
          <a:prstGeom prst="ellipse">
            <a:avLst/>
          </a:prstGeom>
          <a:gradFill rotWithShape="1" flip="none">
            <a:gsLst>
              <a:gs pos="0">
                <a:srgbClr val="0E7490"/>
              </a:gs>
              <a:gs pos="100000">
                <a:srgbClr val="0B11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Shape 2"/>
          <p:cNvSpPr/>
          <p:nvPr/>
        </p:nvSpPr>
        <p:spPr>
          <a:xfrm>
            <a:off x="13716000" y="5334000"/>
            <a:ext cx="3556000" cy="3556000"/>
          </a:xfrm>
          <a:prstGeom prst="ellipse">
            <a:avLst/>
          </a:prstGeom>
          <a:gradFill rotWithShape="1" flip="none">
            <a:gsLst>
              <a:gs pos="0">
                <a:srgbClr val="0E7490"/>
              </a:gs>
              <a:gs pos="100000">
                <a:srgbClr val="0B11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50800" cy="1270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879600"/>
            <a:ext cx="889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b="1" spc="4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16000" y="285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Support &amp; Returns Orchestrator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16000" y="3556000"/>
            <a:ext cx="952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Resolution from Triage to Refund  •  Multi-Agent AI System  •  Production-Ready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16000" y="4127500"/>
            <a:ext cx="3556000" cy="25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4450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Khizar  •  Mustafa  •  Hammad  •  Ammar  •  Anas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 Agents SDK  •  FastAPI  •  OpenRouter (Free Tier)  • 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6000" y="5461000"/>
            <a:ext cx="3302000" cy="48260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5461000"/>
            <a:ext cx="330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spc="1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STATUS: PRODUCTION-READY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1143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PAIN POINT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1755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270000"/>
            <a:ext cx="7175500" cy="381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4986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 SUPPORT CHALLENGES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9500" y="2006600"/>
            <a:ext cx="65405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High volume of repetitive inquiries (tracking, returns, billing)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Manual triage — costly human agents wasted on routine tickets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Slow resolution times — customers wait hours/days for simple answers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Inconsistent brand voice across support channels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Fraud detection gaps — return abuse goes unnoticed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Escalation context loss — customers repeat information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Rising operational costs with scaling support teams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270000"/>
            <a:ext cx="71755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18500" y="1270000"/>
            <a:ext cx="7175500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636000" y="14986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HIGHEST-ROI STARTING POINT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36000" y="2006600"/>
            <a:ext cx="65405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support tickets are routine — fully automatable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Resolution: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2–5 days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(manual) →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30s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(AI)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Cost: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$15–$40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(manual) →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$0.00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(free-tier AI)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Fraud: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10–15%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2%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policy agent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Agent burnout eliminated for tier-1 repetitive work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availability — always-on, no business hours limit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Industry: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60–80%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cost reduction,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+22pt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CSAT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1143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VS AFTER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5080000"/>
        </p:xfrm>
        <a:graphic>
          <a:graphicData uri="http://schemas.openxmlformats.org/drawingml/2006/table">
            <a:tbl>
              <a:tblPr/>
              <a:tblGrid>
                <a:gridCol w="3830320"/>
                <a:gridCol w="3535680"/>
                <a:gridCol w="3830320"/>
                <a:gridCol w="353568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Without AI Agents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With This System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Improvement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Avg Ticket Resolution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2–5 days (manual)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&lt; 30 seconds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99.9% faster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Cost per Ticket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$15–$40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$0.00 (free tier)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 savings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Return Fraud Rate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10–15% of returns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&lt; 2% with policy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80–87% reduction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Agent Burnout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 (repetitive)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Eliminated (tier-1)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Zero burnout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24/7 Availability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(business hours)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Yes, always-on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E749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Full coverage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794500"/>
            <a:ext cx="14732000" cy="1270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2000" y="6794500"/>
            <a:ext cx="508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079500" y="6921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BENCHMARKS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79500" y="73025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architecture reduces support costs by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60–80%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increases CSAT by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percentage points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average.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1684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production-grade multi-agent system that autonomously handles the full lifecycle of customer inquiries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2000" y="1714500"/>
            <a:ext cx="34290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714500"/>
            <a:ext cx="34290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520" y="0"/>
                </a:moveTo>
                <a:cubicBezTo>
                  <a:pt x="223520" y="-14049"/>
                  <a:pt x="214440" y="-25400"/>
                  <a:pt x="203200" y="-25400"/>
                </a:cubicBezTo>
                <a:cubicBezTo>
                  <a:pt x="191961" y="-25400"/>
                  <a:pt x="182880" y="-14049"/>
                  <a:pt x="182880" y="0"/>
                </a:cubicBezTo>
                <a:lnTo>
                  <a:pt x="182880" y="50800"/>
                </a:lnTo>
                <a:lnTo>
                  <a:pt x="121920" y="50800"/>
                </a:lnTo>
                <a:cubicBezTo>
                  <a:pt x="88265" y="50800"/>
                  <a:pt x="60960" y="84931"/>
                  <a:pt x="60960" y="127000"/>
                </a:cubicBezTo>
                <a:lnTo>
                  <a:pt x="60960" y="304800"/>
                </a:lnTo>
                <a:cubicBezTo>
                  <a:pt x="60960" y="346869"/>
                  <a:pt x="88265" y="381000"/>
                  <a:pt x="121920" y="381000"/>
                </a:cubicBezTo>
                <a:lnTo>
                  <a:pt x="284480" y="381000"/>
                </a:lnTo>
                <a:cubicBezTo>
                  <a:pt x="318135" y="381000"/>
                  <a:pt x="345440" y="346869"/>
                  <a:pt x="345440" y="304800"/>
                </a:cubicBezTo>
                <a:lnTo>
                  <a:pt x="345440" y="127000"/>
                </a:lnTo>
                <a:cubicBezTo>
                  <a:pt x="345440" y="84931"/>
                  <a:pt x="318135" y="50800"/>
                  <a:pt x="284480" y="50800"/>
                </a:cubicBezTo>
                <a:lnTo>
                  <a:pt x="223520" y="50800"/>
                </a:lnTo>
                <a:lnTo>
                  <a:pt x="223520" y="0"/>
                </a:lnTo>
                <a:close/>
                <a:moveTo>
                  <a:pt x="101600" y="292100"/>
                </a:moveTo>
                <a:cubicBezTo>
                  <a:pt x="101600" y="281543"/>
                  <a:pt x="108394" y="273050"/>
                  <a:pt x="116840" y="273050"/>
                </a:cubicBezTo>
                <a:lnTo>
                  <a:pt x="137160" y="273050"/>
                </a:lnTo>
                <a:cubicBezTo>
                  <a:pt x="145606" y="273050"/>
                  <a:pt x="152400" y="281543"/>
                  <a:pt x="152400" y="292100"/>
                </a:cubicBezTo>
                <a:cubicBezTo>
                  <a:pt x="152400" y="302657"/>
                  <a:pt x="145606" y="311150"/>
                  <a:pt x="137160" y="311150"/>
                </a:cubicBezTo>
                <a:lnTo>
                  <a:pt x="116840" y="311150"/>
                </a:lnTo>
                <a:cubicBezTo>
                  <a:pt x="108394" y="311150"/>
                  <a:pt x="101600" y="302657"/>
                  <a:pt x="101600" y="292100"/>
                </a:cubicBezTo>
                <a:close/>
                <a:moveTo>
                  <a:pt x="177800" y="292100"/>
                </a:moveTo>
                <a:cubicBezTo>
                  <a:pt x="177800" y="281543"/>
                  <a:pt x="184595" y="273050"/>
                  <a:pt x="193040" y="273050"/>
                </a:cubicBezTo>
                <a:lnTo>
                  <a:pt x="213360" y="273050"/>
                </a:lnTo>
                <a:cubicBezTo>
                  <a:pt x="221806" y="273050"/>
                  <a:pt x="228600" y="281543"/>
                  <a:pt x="228600" y="292100"/>
                </a:cubicBezTo>
                <a:cubicBezTo>
                  <a:pt x="228600" y="302657"/>
                  <a:pt x="221806" y="311150"/>
                  <a:pt x="213360" y="311150"/>
                </a:cubicBezTo>
                <a:lnTo>
                  <a:pt x="193040" y="311150"/>
                </a:lnTo>
                <a:cubicBezTo>
                  <a:pt x="184595" y="311150"/>
                  <a:pt x="177800" y="302657"/>
                  <a:pt x="177800" y="292100"/>
                </a:cubicBezTo>
                <a:close/>
                <a:moveTo>
                  <a:pt x="254000" y="292100"/>
                </a:moveTo>
                <a:cubicBezTo>
                  <a:pt x="254000" y="281543"/>
                  <a:pt x="260795" y="273050"/>
                  <a:pt x="269240" y="273050"/>
                </a:cubicBezTo>
                <a:lnTo>
                  <a:pt x="289560" y="273050"/>
                </a:lnTo>
                <a:cubicBezTo>
                  <a:pt x="298006" y="273050"/>
                  <a:pt x="304800" y="281543"/>
                  <a:pt x="304800" y="292100"/>
                </a:cubicBezTo>
                <a:cubicBezTo>
                  <a:pt x="304800" y="302657"/>
                  <a:pt x="298006" y="311150"/>
                  <a:pt x="289560" y="311150"/>
                </a:cubicBezTo>
                <a:lnTo>
                  <a:pt x="269240" y="311150"/>
                </a:lnTo>
                <a:cubicBezTo>
                  <a:pt x="260795" y="311150"/>
                  <a:pt x="254000" y="302657"/>
                  <a:pt x="254000" y="292100"/>
                </a:cubicBezTo>
                <a:close/>
                <a:moveTo>
                  <a:pt x="142240" y="139700"/>
                </a:moveTo>
                <a:cubicBezTo>
                  <a:pt x="159062" y="139700"/>
                  <a:pt x="172720" y="156772"/>
                  <a:pt x="172720" y="177800"/>
                </a:cubicBezTo>
                <a:cubicBezTo>
                  <a:pt x="172720" y="198828"/>
                  <a:pt x="159062" y="215900"/>
                  <a:pt x="142240" y="215900"/>
                </a:cubicBezTo>
                <a:cubicBezTo>
                  <a:pt x="125418" y="215900"/>
                  <a:pt x="111760" y="198828"/>
                  <a:pt x="111760" y="177800"/>
                </a:cubicBezTo>
                <a:cubicBezTo>
                  <a:pt x="111760" y="156772"/>
                  <a:pt x="125418" y="139700"/>
                  <a:pt x="142240" y="139700"/>
                </a:cubicBezTo>
                <a:close/>
                <a:moveTo>
                  <a:pt x="233680" y="177800"/>
                </a:moveTo>
                <a:cubicBezTo>
                  <a:pt x="233680" y="156772"/>
                  <a:pt x="247338" y="139700"/>
                  <a:pt x="264160" y="139700"/>
                </a:cubicBezTo>
                <a:cubicBezTo>
                  <a:pt x="280982" y="139700"/>
                  <a:pt x="294640" y="156772"/>
                  <a:pt x="294640" y="177800"/>
                </a:cubicBezTo>
                <a:cubicBezTo>
                  <a:pt x="294640" y="198828"/>
                  <a:pt x="280982" y="215900"/>
                  <a:pt x="264160" y="215900"/>
                </a:cubicBezTo>
                <a:cubicBezTo>
                  <a:pt x="247338" y="215900"/>
                  <a:pt x="233680" y="198828"/>
                  <a:pt x="233680" y="177800"/>
                </a:cubicBezTo>
                <a:close/>
                <a:moveTo>
                  <a:pt x="40640" y="177800"/>
                </a:moveTo>
                <a:cubicBezTo>
                  <a:pt x="40640" y="163751"/>
                  <a:pt x="31560" y="152400"/>
                  <a:pt x="20320" y="152400"/>
                </a:cubicBezTo>
                <a:cubicBezTo>
                  <a:pt x="9080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9081" y="279400"/>
                  <a:pt x="20320" y="279400"/>
                </a:cubicBezTo>
                <a:cubicBezTo>
                  <a:pt x="31560" y="279400"/>
                  <a:pt x="40640" y="268049"/>
                  <a:pt x="40640" y="254000"/>
                </a:cubicBezTo>
                <a:lnTo>
                  <a:pt x="40640" y="177800"/>
                </a:lnTo>
                <a:close/>
                <a:moveTo>
                  <a:pt x="386080" y="152400"/>
                </a:moveTo>
                <a:cubicBezTo>
                  <a:pt x="374841" y="152400"/>
                  <a:pt x="365760" y="163751"/>
                  <a:pt x="365760" y="177800"/>
                </a:cubicBezTo>
                <a:lnTo>
                  <a:pt x="365760" y="254000"/>
                </a:lnTo>
                <a:cubicBezTo>
                  <a:pt x="365760" y="268049"/>
                  <a:pt x="374841" y="279400"/>
                  <a:pt x="386080" y="279400"/>
                </a:cubicBezTo>
                <a:cubicBezTo>
                  <a:pt x="397320" y="279400"/>
                  <a:pt x="406400" y="268049"/>
                  <a:pt x="406400" y="2540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603500"/>
            <a:ext cx="292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TRIAGE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6000" y="3365500"/>
            <a:ext cx="2921000" cy="25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556000"/>
            <a:ext cx="2921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Keyword-first classification routes every message to the right specialist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human needed for 80%+ of cases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08500" y="1714500"/>
            <a:ext cx="34290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8500" y="1714500"/>
            <a:ext cx="3429000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47625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62500" y="2603500"/>
            <a:ext cx="292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SUB-30s RESOLUTION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62500" y="3365500"/>
            <a:ext cx="2921000" cy="25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762500" y="3556000"/>
            <a:ext cx="292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Routine cases resolved in under 30 seconds end-to-end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</a:t>
            </a:r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triage to notification</a:t>
            </a:r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single automated pipeline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55000" y="1714500"/>
            <a:ext cx="34290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5000" y="1714500"/>
            <a:ext cx="3429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9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509000" y="2603500"/>
            <a:ext cx="292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GUARDRAILS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9000" y="3365500"/>
            <a:ext cx="2921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8509000" y="3556000"/>
            <a:ext cx="292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PII scrubbing, sentiment monitoring, refund capping, and brand voice enforcement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 every interaction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001500" y="1714500"/>
            <a:ext cx="34925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01500" y="1714500"/>
            <a:ext cx="34925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22555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2255500" y="2603500"/>
            <a:ext cx="2984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OBSERVABILITY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255500" y="3365500"/>
            <a:ext cx="2984500" cy="25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2255500" y="35560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Datadog APM, Kafka event streaming, CSAT pipeline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Kubernetes-ready deployment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1143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— MANAGER + HANDOFF HYBRID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048000" y="1270000"/>
            <a:ext cx="10160000" cy="533400"/>
          </a:xfrm>
          <a:prstGeom prst="rect">
            <a:avLst/>
          </a:prstGeom>
          <a:solidFill>
            <a:srgbClr val="1A274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8000" y="1270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Message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→  FastAPI POST /webhook/message  → 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Triage Orchestrator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77200" y="1803400"/>
            <a:ext cx="0" cy="254000"/>
          </a:xfrm>
          <a:prstGeom prst="straightConnector1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762000" y="2159000"/>
            <a:ext cx="7366000" cy="165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22606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TRIAGE ORCHESTRATOR (Keyword-First Classification)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2590800"/>
            <a:ext cx="685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Keyword matching → deterministic intent detection (zero cost)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Optional LLM enrichment → better reasoning quality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Dispatch table → tool execution or agent handoff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82000" y="2159000"/>
            <a:ext cx="7112000" cy="165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6000" y="22606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GUARDRAILS (Input Layer)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36000" y="2590800"/>
            <a:ext cx="6604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PII Scrubber — redacts credit cards, SSNs, bank accounts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Sentiment Monitor — scores 0.0–1.0, escalates at ≥ 0.8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Both run before triage — zero latency impact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77200" y="3810000"/>
            <a:ext cx="0" cy="254000"/>
          </a:xfrm>
          <a:prstGeom prst="straightConnector1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4191000"/>
            <a:ext cx="2743200" cy="139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92600"/>
            <a:ext cx="2438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5974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tracking_lookup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953000"/>
            <a:ext cx="1016000" cy="304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5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59200" y="4191000"/>
            <a:ext cx="2743200" cy="139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1600" y="4292600"/>
            <a:ext cx="2438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REQUEST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11600" y="45974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check_return_policy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11600" y="4953000"/>
            <a:ext cx="1016000" cy="304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911600" y="495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56400" y="4191000"/>
            <a:ext cx="2743200" cy="139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8800" y="4292600"/>
            <a:ext cx="2438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BILLING DISPUTE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8800" y="45974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BillingAgent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8800" y="4953000"/>
            <a:ext cx="1016000" cy="304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908800" y="495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HANDOFF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53600" y="4191000"/>
            <a:ext cx="2743200" cy="139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06000" y="4292600"/>
            <a:ext cx="2438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 INQUIRY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06000" y="45974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faq_lookup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06000" y="4953000"/>
            <a:ext cx="1016000" cy="304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0" y="495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750800" y="4191000"/>
            <a:ext cx="2743200" cy="139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903200" y="4292600"/>
            <a:ext cx="2438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CASE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903200" y="4597400"/>
            <a:ext cx="243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EscalationAgent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2903200" y="4953000"/>
            <a:ext cx="1016000" cy="304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12903200" y="495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HANDOFF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2000" y="5969000"/>
            <a:ext cx="14732000" cy="533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000" y="5969000"/>
            <a:ext cx="147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 Agent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(Refund/Label/Replace)  → 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Agent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(Email/SMS/Chat)  → 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Escalation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(if needed)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1143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&amp; STATE MANAGEMENT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175500" cy="3048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270000"/>
            <a:ext cx="71755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22515"/>
                </a:moveTo>
                <a:cubicBezTo>
                  <a:pt x="294731" y="128349"/>
                  <a:pt x="283165" y="133052"/>
                  <a:pt x="271122" y="136803"/>
                </a:cubicBezTo>
                <a:cubicBezTo>
                  <a:pt x="239146" y="146804"/>
                  <a:pt x="197168" y="152400"/>
                  <a:pt x="152400" y="152400"/>
                </a:cubicBezTo>
                <a:cubicBezTo>
                  <a:pt x="107632" y="152400"/>
                  <a:pt x="65586" y="146745"/>
                  <a:pt x="33678" y="136803"/>
                </a:cubicBezTo>
                <a:cubicBezTo>
                  <a:pt x="21703" y="133052"/>
                  <a:pt x="10069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68240" y="219075"/>
                  <a:pt x="152400" y="219075"/>
                </a:cubicBezTo>
                <a:cubicBezTo>
                  <a:pt x="236560" y="219075"/>
                  <a:pt x="304800" y="197763"/>
                  <a:pt x="304800" y="171450"/>
                </a:cubicBezTo>
                <a:lnTo>
                  <a:pt x="304800" y="122515"/>
                </a:lnTo>
                <a:close/>
                <a:moveTo>
                  <a:pt x="304800" y="76200"/>
                </a:moveTo>
                <a:lnTo>
                  <a:pt x="304800" y="47625"/>
                </a:lnTo>
                <a:cubicBezTo>
                  <a:pt x="304800" y="21312"/>
                  <a:pt x="236560" y="0"/>
                  <a:pt x="152400" y="0"/>
                </a:cubicBezTo>
                <a:cubicBezTo>
                  <a:pt x="6824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68240" y="123825"/>
                  <a:pt x="152400" y="123825"/>
                </a:cubicBezTo>
                <a:cubicBezTo>
                  <a:pt x="236560" y="123825"/>
                  <a:pt x="304800" y="102513"/>
                  <a:pt x="304800" y="76200"/>
                </a:cubicBezTo>
                <a:close/>
                <a:moveTo>
                  <a:pt x="271122" y="232053"/>
                </a:moveTo>
                <a:cubicBezTo>
                  <a:pt x="239214" y="241995"/>
                  <a:pt x="197236" y="247650"/>
                  <a:pt x="152400" y="247650"/>
                </a:cubicBezTo>
                <a:cubicBezTo>
                  <a:pt x="107564" y="247650"/>
                  <a:pt x="65586" y="241995"/>
                  <a:pt x="33678" y="232053"/>
                </a:cubicBezTo>
                <a:cubicBezTo>
                  <a:pt x="21703" y="228302"/>
                  <a:pt x="10069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68240" y="304800"/>
                  <a:pt x="152400" y="304800"/>
                </a:cubicBezTo>
                <a:cubicBezTo>
                  <a:pt x="236560" y="304800"/>
                  <a:pt x="304800" y="283488"/>
                  <a:pt x="304800" y="257175"/>
                </a:cubicBezTo>
                <a:lnTo>
                  <a:pt x="304800" y="217765"/>
                </a:lnTo>
                <a:cubicBezTo>
                  <a:pt x="294731" y="223599"/>
                  <a:pt x="283165" y="228302"/>
                  <a:pt x="271122" y="232053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14224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1930400"/>
            <a:ext cx="66675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Each conversation maintains a Session object (OpenAI Agents SDK)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Persists full turn history, tool call results, and agent handoff chain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Escalation Agent receives complete context bundle — no info lost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24h active TTL, 90 days audit archive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18500" y="1270000"/>
            <a:ext cx="7175500" cy="3048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8500" y="1270000"/>
            <a:ext cx="71755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85725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9789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KEYS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2500" y="1930400"/>
            <a:ext cx="66675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customer_id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unique customer identifier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intent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classified intent (return, billing, etc.)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policy_decision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eligibility from Policy Agent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resolution_action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refund, label, or replacement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agent_chain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full sequence of handlers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every handoff and tool call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4635500"/>
            <a:ext cx="14732000" cy="3302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4635500"/>
            <a:ext cx="147320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486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61912" y="128588"/>
                </a:moveTo>
                <a:lnTo>
                  <a:pt x="61912" y="166688"/>
                </a:lnTo>
                <a:cubicBezTo>
                  <a:pt x="61912" y="174605"/>
                  <a:pt x="68282" y="180975"/>
                  <a:pt x="76200" y="180975"/>
                </a:cubicBezTo>
                <a:cubicBezTo>
                  <a:pt x="84118" y="180975"/>
                  <a:pt x="90488" y="174605"/>
                  <a:pt x="90488" y="166688"/>
                </a:cubicBezTo>
                <a:lnTo>
                  <a:pt x="90488" y="128588"/>
                </a:lnTo>
                <a:cubicBezTo>
                  <a:pt x="90488" y="120670"/>
                  <a:pt x="84118" y="114300"/>
                  <a:pt x="76200" y="114300"/>
                </a:cubicBezTo>
                <a:cubicBezTo>
                  <a:pt x="68282" y="114300"/>
                  <a:pt x="61912" y="120670"/>
                  <a:pt x="61912" y="128588"/>
                </a:cubicBezTo>
                <a:close/>
                <a:moveTo>
                  <a:pt x="109537" y="71438"/>
                </a:moveTo>
                <a:lnTo>
                  <a:pt x="109537" y="166688"/>
                </a:lnTo>
                <a:cubicBezTo>
                  <a:pt x="109537" y="174605"/>
                  <a:pt x="115907" y="180975"/>
                  <a:pt x="123825" y="180975"/>
                </a:cubicBezTo>
                <a:cubicBezTo>
                  <a:pt x="131743" y="180975"/>
                  <a:pt x="138113" y="174605"/>
                  <a:pt x="138113" y="166688"/>
                </a:cubicBezTo>
                <a:lnTo>
                  <a:pt x="138113" y="71438"/>
                </a:lnTo>
                <a:cubicBezTo>
                  <a:pt x="138113" y="63520"/>
                  <a:pt x="131743" y="57150"/>
                  <a:pt x="123825" y="57150"/>
                </a:cubicBezTo>
                <a:cubicBezTo>
                  <a:pt x="115907" y="57150"/>
                  <a:pt x="109537" y="63520"/>
                  <a:pt x="109537" y="71438"/>
                </a:cubicBezTo>
                <a:close/>
                <a:moveTo>
                  <a:pt x="157163" y="109537"/>
                </a:moveTo>
                <a:lnTo>
                  <a:pt x="157163" y="166688"/>
                </a:lnTo>
                <a:cubicBezTo>
                  <a:pt x="157163" y="174605"/>
                  <a:pt x="163532" y="180975"/>
                  <a:pt x="171450" y="180975"/>
                </a:cubicBezTo>
                <a:cubicBezTo>
                  <a:pt x="179368" y="180975"/>
                  <a:pt x="185738" y="174605"/>
                  <a:pt x="185738" y="166688"/>
                </a:cubicBezTo>
                <a:lnTo>
                  <a:pt x="185738" y="109537"/>
                </a:lnTo>
                <a:cubicBezTo>
                  <a:pt x="185738" y="101620"/>
                  <a:pt x="179368" y="95250"/>
                  <a:pt x="171450" y="95250"/>
                </a:cubicBezTo>
                <a:cubicBezTo>
                  <a:pt x="163532" y="95250"/>
                  <a:pt x="157163" y="101620"/>
                  <a:pt x="157163" y="109537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22400" y="48641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TRACING &amp; OBSERVABILITY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334000"/>
            <a:ext cx="1422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OpenAI Agents SDK built-in tracing enabled for full observability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Datadog APM: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agent_span()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handoffs,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tool_span()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tool calls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 PagerDuty monitors: queue depth (&gt;500), error rate (&gt;5%), P95 latency (&gt;30s)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CSAT pipeline: rolling score computation with Datadog metric emission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1143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DECISION: KEYWORD-FIRST CLASSIFICATION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3660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270000"/>
            <a:ext cx="73660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14224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KEYWORD-FIRST?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1968500"/>
            <a:ext cx="6858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zero-cost intent detection (no LLM call needed)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Avoids SDK limitation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Runner.run() consumes tool results internally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free model produces malformed JSON; code is reliable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for enrichment only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plays to its strength (reasoning)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in code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deterministic execution, plays to code's strength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extend</a:t>
            </a:r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new intent = one entry in rules + dispatch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82000" y="1270000"/>
            <a:ext cx="71120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1270000"/>
            <a:ext cx="711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6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11370" y="38100"/>
                  <a:pt x="4405" y="42743"/>
                  <a:pt x="1429" y="49887"/>
                </a:cubicBezTo>
                <a:cubicBezTo>
                  <a:pt x="-1548" y="57031"/>
                  <a:pt x="119" y="65187"/>
                  <a:pt x="5596" y="70604"/>
                </a:cubicBezTo>
                <a:lnTo>
                  <a:pt x="114300" y="179368"/>
                </a:lnTo>
                <a:lnTo>
                  <a:pt x="114300" y="247650"/>
                </a:lnTo>
                <a:cubicBezTo>
                  <a:pt x="114300" y="252710"/>
                  <a:pt x="116324" y="257532"/>
                  <a:pt x="119896" y="261104"/>
                </a:cubicBezTo>
                <a:lnTo>
                  <a:pt x="157996" y="299204"/>
                </a:lnTo>
                <a:cubicBezTo>
                  <a:pt x="163473" y="304681"/>
                  <a:pt x="171629" y="306288"/>
                  <a:pt x="178772" y="303312"/>
                </a:cubicBezTo>
                <a:cubicBezTo>
                  <a:pt x="185916" y="300335"/>
                  <a:pt x="190500" y="293430"/>
                  <a:pt x="190500" y="285750"/>
                </a:cubicBezTo>
                <a:lnTo>
                  <a:pt x="190500" y="179368"/>
                </a:lnTo>
                <a:lnTo>
                  <a:pt x="299204" y="70664"/>
                </a:lnTo>
                <a:cubicBezTo>
                  <a:pt x="304681" y="65187"/>
                  <a:pt x="306288" y="57031"/>
                  <a:pt x="303312" y="49887"/>
                </a:cubicBezTo>
                <a:cubicBezTo>
                  <a:pt x="300335" y="42743"/>
                  <a:pt x="293430" y="38100"/>
                  <a:pt x="285750" y="38100"/>
                </a:cubicBezTo>
                <a:lnTo>
                  <a:pt x="19050" y="381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90424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 RULES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1968500"/>
            <a:ext cx="6604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edge_case_escalate: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sue, lawyer, attorney, court, legal action, litigation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return_request: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order, return item, send back, damaged, broken, wrong item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billing_dispute: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charged, billing, invoice, transaction, overcharged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order_status: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track, where is, delivery, shipped, tracking, order status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general_inquiry: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(fallback — anything not matched above)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TEAM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4699000" cy="355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270000"/>
            <a:ext cx="46990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3234" y="60563"/>
                </a:moveTo>
                <a:cubicBezTo>
                  <a:pt x="198914" y="55493"/>
                  <a:pt x="202494" y="47645"/>
                  <a:pt x="202494" y="38894"/>
                </a:cubicBezTo>
                <a:cubicBezTo>
                  <a:pt x="202494" y="23545"/>
                  <a:pt x="191444" y="11112"/>
                  <a:pt x="177800" y="11112"/>
                </a:cubicBezTo>
                <a:cubicBezTo>
                  <a:pt x="164156" y="11112"/>
                  <a:pt x="153106" y="23545"/>
                  <a:pt x="153106" y="38894"/>
                </a:cubicBezTo>
                <a:cubicBezTo>
                  <a:pt x="153106" y="47645"/>
                  <a:pt x="156748" y="55493"/>
                  <a:pt x="162366" y="60563"/>
                </a:cubicBezTo>
                <a:lnTo>
                  <a:pt x="120138" y="135295"/>
                </a:lnTo>
                <a:cubicBezTo>
                  <a:pt x="113965" y="146199"/>
                  <a:pt x="100815" y="148908"/>
                  <a:pt x="91616" y="141129"/>
                </a:cubicBezTo>
                <a:lnTo>
                  <a:pt x="54883" y="110222"/>
                </a:lnTo>
                <a:cubicBezTo>
                  <a:pt x="57662" y="105777"/>
                  <a:pt x="59267" y="100290"/>
                  <a:pt x="59267" y="94456"/>
                </a:cubicBezTo>
                <a:cubicBezTo>
                  <a:pt x="59267" y="79107"/>
                  <a:pt x="48216" y="66675"/>
                  <a:pt x="34572" y="66675"/>
                </a:cubicBezTo>
                <a:cubicBezTo>
                  <a:pt x="20929" y="66675"/>
                  <a:pt x="9878" y="79107"/>
                  <a:pt x="9878" y="94456"/>
                </a:cubicBezTo>
                <a:cubicBezTo>
                  <a:pt x="9878" y="109597"/>
                  <a:pt x="20682" y="121960"/>
                  <a:pt x="34078" y="122238"/>
                </a:cubicBezTo>
                <a:lnTo>
                  <a:pt x="54204" y="273298"/>
                </a:lnTo>
                <a:cubicBezTo>
                  <a:pt x="57106" y="295037"/>
                  <a:pt x="73713" y="311150"/>
                  <a:pt x="93283" y="311150"/>
                </a:cubicBezTo>
                <a:lnTo>
                  <a:pt x="262317" y="311150"/>
                </a:lnTo>
                <a:cubicBezTo>
                  <a:pt x="281887" y="311150"/>
                  <a:pt x="298494" y="295037"/>
                  <a:pt x="301396" y="273298"/>
                </a:cubicBezTo>
                <a:lnTo>
                  <a:pt x="321522" y="122238"/>
                </a:lnTo>
                <a:cubicBezTo>
                  <a:pt x="334918" y="121960"/>
                  <a:pt x="345722" y="109597"/>
                  <a:pt x="345722" y="94456"/>
                </a:cubicBezTo>
                <a:cubicBezTo>
                  <a:pt x="345722" y="79107"/>
                  <a:pt x="334671" y="66675"/>
                  <a:pt x="321028" y="66675"/>
                </a:cubicBezTo>
                <a:cubicBezTo>
                  <a:pt x="307384" y="66675"/>
                  <a:pt x="296333" y="79107"/>
                  <a:pt x="296333" y="94456"/>
                </a:cubicBezTo>
                <a:cubicBezTo>
                  <a:pt x="296333" y="100290"/>
                  <a:pt x="297938" y="105777"/>
                  <a:pt x="300717" y="110222"/>
                </a:cubicBezTo>
                <a:lnTo>
                  <a:pt x="264045" y="141198"/>
                </a:lnTo>
                <a:cubicBezTo>
                  <a:pt x="254847" y="148977"/>
                  <a:pt x="241697" y="146268"/>
                  <a:pt x="235523" y="135364"/>
                </a:cubicBezTo>
                <a:lnTo>
                  <a:pt x="193234" y="60563"/>
                </a:ln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1498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Khizar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18796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Developer &amp; Architect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0600" y="22352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Triage Orchestrator design &amp; implementation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Session management &amp; Redis integration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Architecture decisions (ADR-001)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CI/CD pipeline &amp; repo governance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Integration tests, billing agent, refund cap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Tracking &amp; FAQ tooling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1270000"/>
            <a:ext cx="4699000" cy="355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270000"/>
            <a:ext cx="4699000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986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Mustafa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18796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&amp; Guardrails Specialist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2352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Policy agent — return eligibility engine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PII Scrubber guardrail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Sentiment Monitor guardrail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Database abstraction layer (3 backends)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SQLAlchemy ORM models + DDL/seed scripts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106 tests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most comprehensive suite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68000" y="1270000"/>
            <a:ext cx="4826000" cy="355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68000" y="1270000"/>
            <a:ext cx="482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966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084" y="146199"/>
                </a:moveTo>
                <a:cubicBezTo>
                  <a:pt x="237863" y="143907"/>
                  <a:pt x="244975" y="147935"/>
                  <a:pt x="248031" y="155783"/>
                </a:cubicBezTo>
                <a:lnTo>
                  <a:pt x="258366" y="181898"/>
                </a:lnTo>
                <a:cubicBezTo>
                  <a:pt x="264089" y="182870"/>
                  <a:pt x="269700" y="184815"/>
                  <a:pt x="274979" y="187523"/>
                </a:cubicBezTo>
                <a:lnTo>
                  <a:pt x="294426" y="171341"/>
                </a:lnTo>
                <a:cubicBezTo>
                  <a:pt x="300260" y="166479"/>
                  <a:pt x="307983" y="167451"/>
                  <a:pt x="312928" y="173633"/>
                </a:cubicBezTo>
                <a:lnTo>
                  <a:pt x="323596" y="186968"/>
                </a:lnTo>
                <a:cubicBezTo>
                  <a:pt x="328541" y="193149"/>
                  <a:pt x="329319" y="202873"/>
                  <a:pt x="325430" y="210096"/>
                </a:cubicBezTo>
                <a:lnTo>
                  <a:pt x="312483" y="234335"/>
                </a:lnTo>
                <a:cubicBezTo>
                  <a:pt x="313539" y="237599"/>
                  <a:pt x="314484" y="241002"/>
                  <a:pt x="315262" y="244544"/>
                </a:cubicBezTo>
                <a:cubicBezTo>
                  <a:pt x="316039" y="248087"/>
                  <a:pt x="316540" y="251559"/>
                  <a:pt x="316928" y="255101"/>
                </a:cubicBezTo>
                <a:lnTo>
                  <a:pt x="337876" y="268020"/>
                </a:lnTo>
                <a:cubicBezTo>
                  <a:pt x="344154" y="271909"/>
                  <a:pt x="347377" y="280799"/>
                  <a:pt x="345543" y="289203"/>
                </a:cubicBezTo>
                <a:lnTo>
                  <a:pt x="341654" y="307400"/>
                </a:lnTo>
                <a:cubicBezTo>
                  <a:pt x="339820" y="315803"/>
                  <a:pt x="333542" y="321499"/>
                  <a:pt x="326541" y="320943"/>
                </a:cubicBezTo>
                <a:lnTo>
                  <a:pt x="303205" y="319068"/>
                </a:lnTo>
                <a:cubicBezTo>
                  <a:pt x="299704" y="324693"/>
                  <a:pt x="295648" y="329902"/>
                  <a:pt x="291036" y="334347"/>
                </a:cubicBezTo>
                <a:lnTo>
                  <a:pt x="292537" y="363448"/>
                </a:lnTo>
                <a:cubicBezTo>
                  <a:pt x="292981" y="372199"/>
                  <a:pt x="288425" y="380117"/>
                  <a:pt x="281702" y="382339"/>
                </a:cubicBezTo>
                <a:lnTo>
                  <a:pt x="267145" y="387201"/>
                </a:lnTo>
                <a:cubicBezTo>
                  <a:pt x="260366" y="389493"/>
                  <a:pt x="253309" y="385465"/>
                  <a:pt x="250198" y="377617"/>
                </a:cubicBezTo>
                <a:lnTo>
                  <a:pt x="239863" y="351502"/>
                </a:lnTo>
                <a:cubicBezTo>
                  <a:pt x="234140" y="350530"/>
                  <a:pt x="228529" y="348585"/>
                  <a:pt x="223250" y="345877"/>
                </a:cubicBezTo>
                <a:lnTo>
                  <a:pt x="203803" y="362059"/>
                </a:lnTo>
                <a:cubicBezTo>
                  <a:pt x="197969" y="366921"/>
                  <a:pt x="190246" y="365949"/>
                  <a:pt x="185301" y="359767"/>
                </a:cubicBezTo>
                <a:lnTo>
                  <a:pt x="174633" y="346432"/>
                </a:lnTo>
                <a:cubicBezTo>
                  <a:pt x="169688" y="340251"/>
                  <a:pt x="168910" y="330597"/>
                  <a:pt x="172799" y="323304"/>
                </a:cubicBezTo>
                <a:lnTo>
                  <a:pt x="185745" y="298996"/>
                </a:lnTo>
                <a:cubicBezTo>
                  <a:pt x="184690" y="295731"/>
                  <a:pt x="183745" y="292328"/>
                  <a:pt x="182967" y="288786"/>
                </a:cubicBezTo>
                <a:cubicBezTo>
                  <a:pt x="182189" y="285244"/>
                  <a:pt x="181689" y="281702"/>
                  <a:pt x="181300" y="278229"/>
                </a:cubicBezTo>
                <a:lnTo>
                  <a:pt x="160353" y="265311"/>
                </a:lnTo>
                <a:cubicBezTo>
                  <a:pt x="154075" y="261422"/>
                  <a:pt x="150908" y="252532"/>
                  <a:pt x="152686" y="244128"/>
                </a:cubicBezTo>
                <a:lnTo>
                  <a:pt x="156575" y="225931"/>
                </a:lnTo>
                <a:cubicBezTo>
                  <a:pt x="158409" y="217527"/>
                  <a:pt x="164687" y="211832"/>
                  <a:pt x="171688" y="212388"/>
                </a:cubicBezTo>
                <a:lnTo>
                  <a:pt x="194969" y="214263"/>
                </a:lnTo>
                <a:cubicBezTo>
                  <a:pt x="198469" y="208637"/>
                  <a:pt x="202525" y="203428"/>
                  <a:pt x="207137" y="198983"/>
                </a:cubicBezTo>
                <a:lnTo>
                  <a:pt x="205637" y="169952"/>
                </a:lnTo>
                <a:cubicBezTo>
                  <a:pt x="205192" y="161201"/>
                  <a:pt x="209748" y="153283"/>
                  <a:pt x="216471" y="151061"/>
                </a:cubicBezTo>
                <a:lnTo>
                  <a:pt x="231029" y="146199"/>
                </a:lnTo>
                <a:close/>
                <a:moveTo>
                  <a:pt x="249142" y="236141"/>
                </a:moveTo>
                <a:cubicBezTo>
                  <a:pt x="235649" y="236160"/>
                  <a:pt x="224707" y="249869"/>
                  <a:pt x="224723" y="266735"/>
                </a:cubicBezTo>
                <a:cubicBezTo>
                  <a:pt x="224738" y="283601"/>
                  <a:pt x="235705" y="297279"/>
                  <a:pt x="249198" y="297259"/>
                </a:cubicBezTo>
                <a:cubicBezTo>
                  <a:pt x="262691" y="297240"/>
                  <a:pt x="273633" y="283531"/>
                  <a:pt x="273618" y="266665"/>
                </a:cubicBezTo>
                <a:cubicBezTo>
                  <a:pt x="273602" y="249799"/>
                  <a:pt x="262635" y="236121"/>
                  <a:pt x="249142" y="236141"/>
                </a:cubicBezTo>
                <a:close/>
                <a:moveTo>
                  <a:pt x="124960" y="-31601"/>
                </a:moveTo>
                <a:lnTo>
                  <a:pt x="139517" y="-26739"/>
                </a:lnTo>
                <a:cubicBezTo>
                  <a:pt x="146241" y="-24448"/>
                  <a:pt x="150797" y="-16530"/>
                  <a:pt x="150352" y="-7848"/>
                </a:cubicBezTo>
                <a:lnTo>
                  <a:pt x="148852" y="21183"/>
                </a:lnTo>
                <a:cubicBezTo>
                  <a:pt x="153464" y="25628"/>
                  <a:pt x="157520" y="30768"/>
                  <a:pt x="161020" y="36463"/>
                </a:cubicBezTo>
                <a:lnTo>
                  <a:pt x="184356" y="34588"/>
                </a:lnTo>
                <a:cubicBezTo>
                  <a:pt x="191302" y="34032"/>
                  <a:pt x="197636" y="39727"/>
                  <a:pt x="199469" y="48131"/>
                </a:cubicBezTo>
                <a:lnTo>
                  <a:pt x="203359" y="66328"/>
                </a:lnTo>
                <a:cubicBezTo>
                  <a:pt x="205137" y="74732"/>
                  <a:pt x="201970" y="83622"/>
                  <a:pt x="195691" y="87511"/>
                </a:cubicBezTo>
                <a:lnTo>
                  <a:pt x="174744" y="100429"/>
                </a:lnTo>
                <a:cubicBezTo>
                  <a:pt x="174355" y="103971"/>
                  <a:pt x="173800" y="107513"/>
                  <a:pt x="173077" y="110986"/>
                </a:cubicBezTo>
                <a:cubicBezTo>
                  <a:pt x="172355" y="114459"/>
                  <a:pt x="171355" y="117931"/>
                  <a:pt x="170299" y="121196"/>
                </a:cubicBezTo>
                <a:lnTo>
                  <a:pt x="183245" y="145504"/>
                </a:lnTo>
                <a:cubicBezTo>
                  <a:pt x="187135" y="152797"/>
                  <a:pt x="186357" y="162451"/>
                  <a:pt x="181412" y="168632"/>
                </a:cubicBezTo>
                <a:lnTo>
                  <a:pt x="170744" y="181967"/>
                </a:lnTo>
                <a:cubicBezTo>
                  <a:pt x="165799" y="188149"/>
                  <a:pt x="158075" y="189121"/>
                  <a:pt x="152241" y="184259"/>
                </a:cubicBezTo>
                <a:lnTo>
                  <a:pt x="132794" y="168077"/>
                </a:lnTo>
                <a:cubicBezTo>
                  <a:pt x="127516" y="170785"/>
                  <a:pt x="121904" y="172730"/>
                  <a:pt x="116181" y="173702"/>
                </a:cubicBezTo>
                <a:lnTo>
                  <a:pt x="105847" y="199817"/>
                </a:lnTo>
                <a:cubicBezTo>
                  <a:pt x="102735" y="207665"/>
                  <a:pt x="95623" y="211624"/>
                  <a:pt x="88900" y="209401"/>
                </a:cubicBezTo>
                <a:lnTo>
                  <a:pt x="74343" y="204539"/>
                </a:lnTo>
                <a:cubicBezTo>
                  <a:pt x="67564" y="202248"/>
                  <a:pt x="63063" y="194330"/>
                  <a:pt x="63508" y="185648"/>
                </a:cubicBezTo>
                <a:lnTo>
                  <a:pt x="65008" y="156547"/>
                </a:lnTo>
                <a:cubicBezTo>
                  <a:pt x="60396" y="152102"/>
                  <a:pt x="56340" y="146963"/>
                  <a:pt x="52840" y="141268"/>
                </a:cubicBezTo>
                <a:lnTo>
                  <a:pt x="29504" y="143143"/>
                </a:lnTo>
                <a:cubicBezTo>
                  <a:pt x="22558" y="143699"/>
                  <a:pt x="16224" y="138003"/>
                  <a:pt x="14391" y="129600"/>
                </a:cubicBezTo>
                <a:lnTo>
                  <a:pt x="10501" y="111403"/>
                </a:lnTo>
                <a:cubicBezTo>
                  <a:pt x="8723" y="102999"/>
                  <a:pt x="11890" y="94109"/>
                  <a:pt x="18169" y="90220"/>
                </a:cubicBezTo>
                <a:lnTo>
                  <a:pt x="39116" y="77301"/>
                </a:lnTo>
                <a:cubicBezTo>
                  <a:pt x="39505" y="73759"/>
                  <a:pt x="40061" y="70287"/>
                  <a:pt x="40783" y="66744"/>
                </a:cubicBezTo>
                <a:cubicBezTo>
                  <a:pt x="41561" y="63202"/>
                  <a:pt x="42450" y="59799"/>
                  <a:pt x="43561" y="56535"/>
                </a:cubicBezTo>
                <a:lnTo>
                  <a:pt x="30615" y="32296"/>
                </a:lnTo>
                <a:cubicBezTo>
                  <a:pt x="26726" y="25003"/>
                  <a:pt x="27503" y="15349"/>
                  <a:pt x="32448" y="9168"/>
                </a:cubicBezTo>
                <a:lnTo>
                  <a:pt x="43116" y="-4167"/>
                </a:lnTo>
                <a:cubicBezTo>
                  <a:pt x="48062" y="-10349"/>
                  <a:pt x="55785" y="-11321"/>
                  <a:pt x="61619" y="-6459"/>
                </a:cubicBezTo>
                <a:lnTo>
                  <a:pt x="81066" y="9723"/>
                </a:lnTo>
                <a:cubicBezTo>
                  <a:pt x="86344" y="7015"/>
                  <a:pt x="91956" y="5070"/>
                  <a:pt x="97679" y="4098"/>
                </a:cubicBezTo>
                <a:lnTo>
                  <a:pt x="108013" y="-22017"/>
                </a:lnTo>
                <a:cubicBezTo>
                  <a:pt x="111125" y="-29865"/>
                  <a:pt x="118181" y="-33824"/>
                  <a:pt x="124960" y="-31601"/>
                </a:cubicBezTo>
                <a:close/>
                <a:moveTo>
                  <a:pt x="106902" y="58341"/>
                </a:moveTo>
                <a:cubicBezTo>
                  <a:pt x="93409" y="58341"/>
                  <a:pt x="82455" y="72034"/>
                  <a:pt x="82455" y="88900"/>
                </a:cubicBezTo>
                <a:cubicBezTo>
                  <a:pt x="82455" y="105766"/>
                  <a:pt x="93409" y="119459"/>
                  <a:pt x="106902" y="119459"/>
                </a:cubicBezTo>
                <a:cubicBezTo>
                  <a:pt x="120395" y="119459"/>
                  <a:pt x="131350" y="105766"/>
                  <a:pt x="131350" y="88900"/>
                </a:cubicBezTo>
                <a:cubicBezTo>
                  <a:pt x="131350" y="72034"/>
                  <a:pt x="120395" y="58341"/>
                  <a:pt x="106902" y="5834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1353800" y="14986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Hammad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896600" y="18796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 &amp; Tool Integrations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96600" y="2235200"/>
            <a:ext cx="431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Resolution agent — refund, label, replacement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CRM tools (customer profile lookups)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Payment tools (Stripe refund processing)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Shipping tools (return labels, replacements)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E2E tool tests with respx mocks (44 tests)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21 resolution agent tests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03500" y="5143500"/>
            <a:ext cx="4699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3500" y="5143500"/>
            <a:ext cx="46990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2100" y="5372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4266" y="7987"/>
                </a:moveTo>
                <a:cubicBezTo>
                  <a:pt x="47290" y="3195"/>
                  <a:pt x="38153" y="5765"/>
                  <a:pt x="33893" y="13613"/>
                </a:cubicBezTo>
                <a:cubicBezTo>
                  <a:pt x="18583" y="42089"/>
                  <a:pt x="9816" y="75496"/>
                  <a:pt x="9816" y="111125"/>
                </a:cubicBezTo>
                <a:cubicBezTo>
                  <a:pt x="9816" y="146754"/>
                  <a:pt x="18583" y="180161"/>
                  <a:pt x="33893" y="208637"/>
                </a:cubicBezTo>
                <a:cubicBezTo>
                  <a:pt x="38153" y="216485"/>
                  <a:pt x="47228" y="219055"/>
                  <a:pt x="54266" y="214263"/>
                </a:cubicBezTo>
                <a:cubicBezTo>
                  <a:pt x="61304" y="209471"/>
                  <a:pt x="63526" y="199261"/>
                  <a:pt x="59267" y="191343"/>
                </a:cubicBezTo>
                <a:cubicBezTo>
                  <a:pt x="46734" y="168007"/>
                  <a:pt x="39511" y="140504"/>
                  <a:pt x="39511" y="111125"/>
                </a:cubicBezTo>
                <a:cubicBezTo>
                  <a:pt x="39511" y="81746"/>
                  <a:pt x="46734" y="54243"/>
                  <a:pt x="59328" y="30837"/>
                </a:cubicBezTo>
                <a:cubicBezTo>
                  <a:pt x="63588" y="22989"/>
                  <a:pt x="61304" y="12710"/>
                  <a:pt x="54328" y="7918"/>
                </a:cubicBezTo>
                <a:close/>
                <a:moveTo>
                  <a:pt x="301272" y="7987"/>
                </a:moveTo>
                <a:cubicBezTo>
                  <a:pt x="294296" y="12779"/>
                  <a:pt x="292012" y="22989"/>
                  <a:pt x="296272" y="30907"/>
                </a:cubicBezTo>
                <a:cubicBezTo>
                  <a:pt x="308866" y="54312"/>
                  <a:pt x="316089" y="81816"/>
                  <a:pt x="316089" y="111194"/>
                </a:cubicBezTo>
                <a:cubicBezTo>
                  <a:pt x="316089" y="140573"/>
                  <a:pt x="308866" y="168077"/>
                  <a:pt x="296272" y="191482"/>
                </a:cubicBezTo>
                <a:cubicBezTo>
                  <a:pt x="292012" y="199330"/>
                  <a:pt x="294296" y="209610"/>
                  <a:pt x="301272" y="214402"/>
                </a:cubicBezTo>
                <a:cubicBezTo>
                  <a:pt x="308248" y="219194"/>
                  <a:pt x="317385" y="216624"/>
                  <a:pt x="321645" y="208776"/>
                </a:cubicBezTo>
                <a:cubicBezTo>
                  <a:pt x="336956" y="180300"/>
                  <a:pt x="345722" y="146893"/>
                  <a:pt x="345722" y="111264"/>
                </a:cubicBezTo>
                <a:cubicBezTo>
                  <a:pt x="345722" y="75634"/>
                  <a:pt x="336956" y="42089"/>
                  <a:pt x="321645" y="13613"/>
                </a:cubicBezTo>
                <a:cubicBezTo>
                  <a:pt x="317385" y="5765"/>
                  <a:pt x="308310" y="3195"/>
                  <a:pt x="301272" y="7987"/>
                </a:cubicBezTo>
                <a:close/>
                <a:moveTo>
                  <a:pt x="197556" y="149602"/>
                </a:moveTo>
                <a:cubicBezTo>
                  <a:pt x="209347" y="141893"/>
                  <a:pt x="217311" y="127585"/>
                  <a:pt x="217311" y="111125"/>
                </a:cubicBezTo>
                <a:cubicBezTo>
                  <a:pt x="217311" y="86608"/>
                  <a:pt x="199593" y="66675"/>
                  <a:pt x="177800" y="66675"/>
                </a:cubicBezTo>
                <a:cubicBezTo>
                  <a:pt x="156007" y="66675"/>
                  <a:pt x="138289" y="86608"/>
                  <a:pt x="138289" y="111125"/>
                </a:cubicBezTo>
                <a:cubicBezTo>
                  <a:pt x="138289" y="127585"/>
                  <a:pt x="146253" y="141962"/>
                  <a:pt x="158044" y="149602"/>
                </a:cubicBezTo>
                <a:lnTo>
                  <a:pt x="158044" y="333375"/>
                </a:lnTo>
                <a:cubicBezTo>
                  <a:pt x="158044" y="345668"/>
                  <a:pt x="166873" y="355600"/>
                  <a:pt x="177800" y="355600"/>
                </a:cubicBezTo>
                <a:cubicBezTo>
                  <a:pt x="188727" y="355600"/>
                  <a:pt x="197556" y="345668"/>
                  <a:pt x="197556" y="333375"/>
                </a:cubicBezTo>
                <a:lnTo>
                  <a:pt x="197556" y="149602"/>
                </a:lnTo>
                <a:close/>
                <a:moveTo>
                  <a:pt x="111248" y="63202"/>
                </a:moveTo>
                <a:cubicBezTo>
                  <a:pt x="115693" y="55424"/>
                  <a:pt x="113656" y="45145"/>
                  <a:pt x="106803" y="40144"/>
                </a:cubicBezTo>
                <a:cubicBezTo>
                  <a:pt x="99951" y="35143"/>
                  <a:pt x="90752" y="37435"/>
                  <a:pt x="86307" y="45145"/>
                </a:cubicBezTo>
                <a:cubicBezTo>
                  <a:pt x="75442" y="64175"/>
                  <a:pt x="69144" y="86816"/>
                  <a:pt x="69144" y="111125"/>
                </a:cubicBezTo>
                <a:cubicBezTo>
                  <a:pt x="69144" y="135434"/>
                  <a:pt x="75442" y="158075"/>
                  <a:pt x="86307" y="177105"/>
                </a:cubicBezTo>
                <a:cubicBezTo>
                  <a:pt x="90752" y="184884"/>
                  <a:pt x="99889" y="187107"/>
                  <a:pt x="106803" y="182106"/>
                </a:cubicBezTo>
                <a:cubicBezTo>
                  <a:pt x="113718" y="177105"/>
                  <a:pt x="115693" y="166826"/>
                  <a:pt x="111248" y="159048"/>
                </a:cubicBezTo>
                <a:cubicBezTo>
                  <a:pt x="103346" y="145226"/>
                  <a:pt x="98778" y="128766"/>
                  <a:pt x="98778" y="111125"/>
                </a:cubicBezTo>
                <a:cubicBezTo>
                  <a:pt x="98778" y="93484"/>
                  <a:pt x="103346" y="77024"/>
                  <a:pt x="111248" y="63202"/>
                </a:cubicBezTo>
                <a:close/>
                <a:moveTo>
                  <a:pt x="269293" y="45145"/>
                </a:moveTo>
                <a:cubicBezTo>
                  <a:pt x="264848" y="37366"/>
                  <a:pt x="255711" y="35143"/>
                  <a:pt x="248797" y="40144"/>
                </a:cubicBezTo>
                <a:cubicBezTo>
                  <a:pt x="241882" y="45145"/>
                  <a:pt x="239907" y="55424"/>
                  <a:pt x="244352" y="63202"/>
                </a:cubicBezTo>
                <a:cubicBezTo>
                  <a:pt x="252254" y="77024"/>
                  <a:pt x="256822" y="93484"/>
                  <a:pt x="256822" y="111125"/>
                </a:cubicBezTo>
                <a:cubicBezTo>
                  <a:pt x="256822" y="128766"/>
                  <a:pt x="252254" y="145226"/>
                  <a:pt x="244352" y="159048"/>
                </a:cubicBezTo>
                <a:cubicBezTo>
                  <a:pt x="239907" y="166826"/>
                  <a:pt x="241944" y="177105"/>
                  <a:pt x="248797" y="182106"/>
                </a:cubicBezTo>
                <a:cubicBezTo>
                  <a:pt x="255649" y="187107"/>
                  <a:pt x="264848" y="184815"/>
                  <a:pt x="269293" y="177105"/>
                </a:cubicBezTo>
                <a:cubicBezTo>
                  <a:pt x="280158" y="158075"/>
                  <a:pt x="286456" y="135434"/>
                  <a:pt x="286456" y="111125"/>
                </a:cubicBezTo>
                <a:cubicBezTo>
                  <a:pt x="286456" y="86816"/>
                  <a:pt x="280158" y="64175"/>
                  <a:pt x="269293" y="4514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3289300" y="53721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Ammar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832100" y="57531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&amp; Escalation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832100" y="61087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Communication agent — multi-channel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Escalation agent — human handoff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SendGrid/Twilio notification tooling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Brand Voice guardrail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Helpdesk tools (Zendesk tickets)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56500" y="5143500"/>
            <a:ext cx="4699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56500" y="5143500"/>
            <a:ext cx="4699000" cy="381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5100" y="5372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33363"/>
                </a:moveTo>
                <a:cubicBezTo>
                  <a:pt x="0" y="288578"/>
                  <a:pt x="39820" y="333375"/>
                  <a:pt x="88900" y="333375"/>
                </a:cubicBezTo>
                <a:lnTo>
                  <a:pt x="276578" y="333375"/>
                </a:lnTo>
                <a:cubicBezTo>
                  <a:pt x="320225" y="333375"/>
                  <a:pt x="355600" y="293578"/>
                  <a:pt x="355600" y="244475"/>
                </a:cubicBezTo>
                <a:cubicBezTo>
                  <a:pt x="355600" y="208637"/>
                  <a:pt x="336770" y="177731"/>
                  <a:pt x="309607" y="163701"/>
                </a:cubicBezTo>
                <a:cubicBezTo>
                  <a:pt x="313743" y="154603"/>
                  <a:pt x="316089" y="144254"/>
                  <a:pt x="316089" y="133350"/>
                </a:cubicBezTo>
                <a:cubicBezTo>
                  <a:pt x="316089" y="96540"/>
                  <a:pt x="289542" y="66675"/>
                  <a:pt x="256822" y="66675"/>
                </a:cubicBezTo>
                <a:cubicBezTo>
                  <a:pt x="245895" y="66675"/>
                  <a:pt x="235708" y="70009"/>
                  <a:pt x="226942" y="75773"/>
                </a:cubicBezTo>
                <a:cubicBezTo>
                  <a:pt x="212064" y="43964"/>
                  <a:pt x="182368" y="22225"/>
                  <a:pt x="148167" y="22225"/>
                </a:cubicBezTo>
                <a:cubicBezTo>
                  <a:pt x="99086" y="22225"/>
                  <a:pt x="59267" y="67022"/>
                  <a:pt x="59267" y="122238"/>
                </a:cubicBezTo>
                <a:cubicBezTo>
                  <a:pt x="59267" y="127794"/>
                  <a:pt x="59699" y="133281"/>
                  <a:pt x="60440" y="138559"/>
                </a:cubicBezTo>
                <a:cubicBezTo>
                  <a:pt x="25312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8242300" y="53721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85100" y="57531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&amp; Observability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85100" y="61087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Kafka event streaming (4 channels)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Datadog APM instrumentation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 PagerDuty-bound monitors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CSAT pipeline with rolling scores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Kubernetes manifests (deployment, HPA)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 &amp; TOOLS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5461000"/>
        </p:xfrm>
        <a:graphic>
          <a:graphicData uri="http://schemas.openxmlformats.org/drawingml/2006/table">
            <a:tbl>
              <a:tblPr/>
              <a:tblGrid>
                <a:gridCol w="2062480"/>
                <a:gridCol w="1473200"/>
                <a:gridCol w="3241040"/>
                <a:gridCol w="4419600"/>
                <a:gridCol w="3535680"/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Owner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Tools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Guardrails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Triage Orchestrator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Khizar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Intent classification, routing, guardrails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get_customer_profile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PII Scrubber, Sentiment Monitor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Policy Agent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Mustafa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Return policy eligibility checks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check_return_policy, get_customer_profile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Resolution Agent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Hammad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Refund, label, replacement orders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process_refund, create_return_label, create_replacement_order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Refund Cap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Billing Agent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Khizar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Billing dispute resolution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process_refund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Refund Cap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Communication Agent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Ammar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Multi-channel notifications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send_notification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Brand Voice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Escalation Agent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Ammar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Human handoff with context bundle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create_human_ticket, log_resolution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7048500"/>
            <a:ext cx="14732000" cy="101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2000" y="7048500"/>
            <a:ext cx="508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7150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TARGETS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16000" y="7493000"/>
            <a:ext cx="1422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API  •  Internal Rules Engine  •  FedEx/UPS API  •  Stripe/PayPal API  •  OMS API  •  SendGrid/Twilio  •  Zendesk/Freshdesk  •  Data Warehouse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39800" y="6096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1143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GUARDRAILS — SAFETY &amp; QUALITY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4699000" cy="3302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270000"/>
            <a:ext cx="46990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8533" y="147638"/>
                </a:moveTo>
                <a:cubicBezTo>
                  <a:pt x="153580" y="147638"/>
                  <a:pt x="182033" y="115627"/>
                  <a:pt x="182033" y="76200"/>
                </a:cubicBezTo>
                <a:cubicBezTo>
                  <a:pt x="182033" y="36773"/>
                  <a:pt x="153580" y="4763"/>
                  <a:pt x="118533" y="4763"/>
                </a:cubicBezTo>
                <a:cubicBezTo>
                  <a:pt x="83487" y="4763"/>
                  <a:pt x="55033" y="36773"/>
                  <a:pt x="55033" y="76200"/>
                </a:cubicBezTo>
                <a:cubicBezTo>
                  <a:pt x="55033" y="115627"/>
                  <a:pt x="83487" y="147638"/>
                  <a:pt x="118533" y="147638"/>
                </a:cubicBezTo>
                <a:close/>
                <a:moveTo>
                  <a:pt x="102817" y="180975"/>
                </a:moveTo>
                <a:cubicBezTo>
                  <a:pt x="50694" y="180975"/>
                  <a:pt x="8467" y="228481"/>
                  <a:pt x="8467" y="287119"/>
                </a:cubicBezTo>
                <a:cubicBezTo>
                  <a:pt x="8467" y="296882"/>
                  <a:pt x="15505" y="304800"/>
                  <a:pt x="24183" y="304800"/>
                </a:cubicBezTo>
                <a:lnTo>
                  <a:pt x="157268" y="304800"/>
                </a:lnTo>
                <a:cubicBezTo>
                  <a:pt x="138113" y="279440"/>
                  <a:pt x="127000" y="246757"/>
                  <a:pt x="127000" y="212169"/>
                </a:cubicBezTo>
                <a:lnTo>
                  <a:pt x="127000" y="193655"/>
                </a:lnTo>
                <a:cubicBezTo>
                  <a:pt x="127000" y="189309"/>
                  <a:pt x="127529" y="185023"/>
                  <a:pt x="128535" y="180975"/>
                </a:cubicBezTo>
                <a:lnTo>
                  <a:pt x="102817" y="180975"/>
                </a:lnTo>
                <a:close/>
                <a:moveTo>
                  <a:pt x="235638" y="290810"/>
                </a:moveTo>
                <a:lnTo>
                  <a:pt x="228600" y="294561"/>
                </a:lnTo>
                <a:lnTo>
                  <a:pt x="228600" y="182582"/>
                </a:lnTo>
                <a:lnTo>
                  <a:pt x="279400" y="201632"/>
                </a:lnTo>
                <a:lnTo>
                  <a:pt x="279400" y="213300"/>
                </a:lnTo>
                <a:cubicBezTo>
                  <a:pt x="279400" y="246519"/>
                  <a:pt x="262361" y="276701"/>
                  <a:pt x="235638" y="290870"/>
                </a:cubicBezTo>
                <a:close/>
                <a:moveTo>
                  <a:pt x="223255" y="154484"/>
                </a:moveTo>
                <a:lnTo>
                  <a:pt x="163989" y="176689"/>
                </a:lnTo>
                <a:cubicBezTo>
                  <a:pt x="157057" y="179308"/>
                  <a:pt x="152400" y="186571"/>
                  <a:pt x="152400" y="194786"/>
                </a:cubicBezTo>
                <a:lnTo>
                  <a:pt x="152400" y="213300"/>
                </a:lnTo>
                <a:cubicBezTo>
                  <a:pt x="152400" y="257592"/>
                  <a:pt x="175154" y="297894"/>
                  <a:pt x="210714" y="316706"/>
                </a:cubicBezTo>
                <a:lnTo>
                  <a:pt x="220504" y="321885"/>
                </a:lnTo>
                <a:cubicBezTo>
                  <a:pt x="223044" y="323195"/>
                  <a:pt x="225795" y="323910"/>
                  <a:pt x="228547" y="323910"/>
                </a:cubicBezTo>
                <a:cubicBezTo>
                  <a:pt x="231299" y="323910"/>
                  <a:pt x="234103" y="323195"/>
                  <a:pt x="236590" y="321885"/>
                </a:cubicBezTo>
                <a:lnTo>
                  <a:pt x="246380" y="316706"/>
                </a:lnTo>
                <a:cubicBezTo>
                  <a:pt x="282046" y="297835"/>
                  <a:pt x="304800" y="257532"/>
                  <a:pt x="304800" y="213241"/>
                </a:cubicBezTo>
                <a:lnTo>
                  <a:pt x="304800" y="194727"/>
                </a:lnTo>
                <a:cubicBezTo>
                  <a:pt x="304800" y="186511"/>
                  <a:pt x="300143" y="179249"/>
                  <a:pt x="293211" y="176629"/>
                </a:cubicBezTo>
                <a:lnTo>
                  <a:pt x="233945" y="154424"/>
                </a:lnTo>
                <a:cubicBezTo>
                  <a:pt x="230452" y="153114"/>
                  <a:pt x="226695" y="153114"/>
                  <a:pt x="223255" y="154424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1397000" y="14986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PII Scrubber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56000" y="15240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 →  TRIAGE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0600" y="1930400"/>
            <a:ext cx="421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detects and redacts sensitive data before any agent sees it.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90600" y="26670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cards • SSNs • Bank accounts → Replaced with [REDACTED]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270000"/>
            <a:ext cx="4699000" cy="3302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270000"/>
            <a:ext cx="4699000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64234"/>
                </a:moveTo>
                <a:lnTo>
                  <a:pt x="143470" y="51852"/>
                </a:lnTo>
                <a:cubicBezTo>
                  <a:pt x="128588" y="31254"/>
                  <a:pt x="104715" y="19050"/>
                  <a:pt x="79236" y="19050"/>
                </a:cubicBezTo>
                <a:cubicBezTo>
                  <a:pt x="35481" y="19050"/>
                  <a:pt x="0" y="54531"/>
                  <a:pt x="0" y="98286"/>
                </a:cubicBezTo>
                <a:lnTo>
                  <a:pt x="0" y="99834"/>
                </a:lnTo>
                <a:cubicBezTo>
                  <a:pt x="0" y="113883"/>
                  <a:pt x="3691" y="128409"/>
                  <a:pt x="9882" y="142875"/>
                </a:cubicBezTo>
                <a:lnTo>
                  <a:pt x="72985" y="142875"/>
                </a:lnTo>
                <a:cubicBezTo>
                  <a:pt x="74890" y="142875"/>
                  <a:pt x="76617" y="141744"/>
                  <a:pt x="77391" y="139958"/>
                </a:cubicBezTo>
                <a:lnTo>
                  <a:pt x="96322" y="94536"/>
                </a:lnTo>
                <a:cubicBezTo>
                  <a:pt x="98524" y="89297"/>
                  <a:pt x="103644" y="85844"/>
                  <a:pt x="109299" y="85725"/>
                </a:cubicBezTo>
                <a:cubicBezTo>
                  <a:pt x="114955" y="85606"/>
                  <a:pt x="120194" y="88940"/>
                  <a:pt x="122515" y="94119"/>
                </a:cubicBezTo>
                <a:lnTo>
                  <a:pt x="153055" y="161925"/>
                </a:lnTo>
                <a:lnTo>
                  <a:pt x="177701" y="112633"/>
                </a:lnTo>
                <a:cubicBezTo>
                  <a:pt x="180142" y="107811"/>
                  <a:pt x="185083" y="104715"/>
                  <a:pt x="190500" y="104715"/>
                </a:cubicBezTo>
                <a:cubicBezTo>
                  <a:pt x="195917" y="104715"/>
                  <a:pt x="200858" y="107752"/>
                  <a:pt x="203299" y="112633"/>
                </a:cubicBezTo>
                <a:lnTo>
                  <a:pt x="217110" y="140196"/>
                </a:lnTo>
                <a:cubicBezTo>
                  <a:pt x="217944" y="141803"/>
                  <a:pt x="219551" y="142815"/>
                  <a:pt x="221397" y="142815"/>
                </a:cubicBezTo>
                <a:lnTo>
                  <a:pt x="294977" y="142815"/>
                </a:lnTo>
                <a:cubicBezTo>
                  <a:pt x="301228" y="128349"/>
                  <a:pt x="304860" y="113824"/>
                  <a:pt x="304860" y="99774"/>
                </a:cubicBezTo>
                <a:lnTo>
                  <a:pt x="304860" y="98227"/>
                </a:lnTo>
                <a:cubicBezTo>
                  <a:pt x="304800" y="54531"/>
                  <a:pt x="269319" y="19050"/>
                  <a:pt x="225564" y="19050"/>
                </a:cubicBezTo>
                <a:cubicBezTo>
                  <a:pt x="200144" y="19050"/>
                  <a:pt x="176212" y="31254"/>
                  <a:pt x="161330" y="51852"/>
                </a:cubicBezTo>
                <a:lnTo>
                  <a:pt x="152400" y="64175"/>
                </a:lnTo>
                <a:close/>
                <a:moveTo>
                  <a:pt x="279559" y="171450"/>
                </a:moveTo>
                <a:lnTo>
                  <a:pt x="221337" y="171450"/>
                </a:lnTo>
                <a:cubicBezTo>
                  <a:pt x="208717" y="171450"/>
                  <a:pt x="197167" y="164306"/>
                  <a:pt x="191512" y="152995"/>
                </a:cubicBezTo>
                <a:lnTo>
                  <a:pt x="190500" y="150971"/>
                </a:lnTo>
                <a:lnTo>
                  <a:pt x="165199" y="201632"/>
                </a:lnTo>
                <a:cubicBezTo>
                  <a:pt x="162758" y="206573"/>
                  <a:pt x="157639" y="209669"/>
                  <a:pt x="152102" y="209550"/>
                </a:cubicBezTo>
                <a:cubicBezTo>
                  <a:pt x="146566" y="209431"/>
                  <a:pt x="141625" y="206157"/>
                  <a:pt x="139363" y="201156"/>
                </a:cubicBezTo>
                <a:lnTo>
                  <a:pt x="110014" y="135969"/>
                </a:lnTo>
                <a:lnTo>
                  <a:pt x="103763" y="150971"/>
                </a:lnTo>
                <a:cubicBezTo>
                  <a:pt x="98584" y="163413"/>
                  <a:pt x="86439" y="171510"/>
                  <a:pt x="72985" y="171510"/>
                </a:cubicBezTo>
                <a:lnTo>
                  <a:pt x="25241" y="171510"/>
                </a:lnTo>
                <a:cubicBezTo>
                  <a:pt x="53340" y="215444"/>
                  <a:pt x="98465" y="255865"/>
                  <a:pt x="126683" y="277416"/>
                </a:cubicBezTo>
                <a:cubicBezTo>
                  <a:pt x="134064" y="283012"/>
                  <a:pt x="143113" y="285810"/>
                  <a:pt x="152340" y="285810"/>
                </a:cubicBezTo>
                <a:cubicBezTo>
                  <a:pt x="161568" y="285810"/>
                  <a:pt x="170676" y="283071"/>
                  <a:pt x="177998" y="277416"/>
                </a:cubicBezTo>
                <a:cubicBezTo>
                  <a:pt x="206335" y="255806"/>
                  <a:pt x="251460" y="215384"/>
                  <a:pt x="279559" y="1714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50000" y="14986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Monitor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15240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 →  TRIAGE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930400"/>
            <a:ext cx="421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Scores customer sentiment 0.0–1.0; escalates to human at ≥ 0.8.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2667000"/>
            <a:ext cx="421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CAPS (+0.3) • Legal keywords (+0.4) • Distress (+0.2) • Profanity (+0.2) • !!! (+0.1–0.2)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668000" y="1270000"/>
            <a:ext cx="4826000" cy="3302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68000" y="1270000"/>
            <a:ext cx="482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966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57150"/>
                </a:moveTo>
                <a:lnTo>
                  <a:pt x="76200" y="47625"/>
                </a:lnTo>
                <a:cubicBezTo>
                  <a:pt x="76200" y="21312"/>
                  <a:pt x="127397" y="0"/>
                  <a:pt x="190500" y="0"/>
                </a:cubicBezTo>
                <a:cubicBezTo>
                  <a:pt x="253603" y="0"/>
                  <a:pt x="304800" y="21312"/>
                  <a:pt x="304800" y="47625"/>
                </a:cubicBezTo>
                <a:lnTo>
                  <a:pt x="304800" y="57150"/>
                </a:lnTo>
                <a:cubicBezTo>
                  <a:pt x="304800" y="75367"/>
                  <a:pt x="280214" y="91202"/>
                  <a:pt x="244078" y="99239"/>
                </a:cubicBezTo>
                <a:cubicBezTo>
                  <a:pt x="242649" y="97572"/>
                  <a:pt x="241161" y="95964"/>
                  <a:pt x="239673" y="94476"/>
                </a:cubicBezTo>
                <a:cubicBezTo>
                  <a:pt x="230445" y="85368"/>
                  <a:pt x="218539" y="78462"/>
                  <a:pt x="206097" y="73343"/>
                </a:cubicBezTo>
                <a:cubicBezTo>
                  <a:pt x="181154" y="62925"/>
                  <a:pt x="148650" y="57210"/>
                  <a:pt x="114300" y="57210"/>
                </a:cubicBezTo>
                <a:cubicBezTo>
                  <a:pt x="101263" y="57210"/>
                  <a:pt x="88523" y="58043"/>
                  <a:pt x="76319" y="59650"/>
                </a:cubicBezTo>
                <a:cubicBezTo>
                  <a:pt x="76200" y="58876"/>
                  <a:pt x="76200" y="58043"/>
                  <a:pt x="76200" y="57210"/>
                </a:cubicBezTo>
                <a:close/>
                <a:moveTo>
                  <a:pt x="257175" y="210145"/>
                </a:moveTo>
                <a:lnTo>
                  <a:pt x="257175" y="182642"/>
                </a:lnTo>
                <a:cubicBezTo>
                  <a:pt x="266164" y="180320"/>
                  <a:pt x="274618" y="177582"/>
                  <a:pt x="282297" y="174367"/>
                </a:cubicBezTo>
                <a:cubicBezTo>
                  <a:pt x="290155" y="171093"/>
                  <a:pt x="297835" y="167104"/>
                  <a:pt x="304800" y="162282"/>
                </a:cubicBezTo>
                <a:lnTo>
                  <a:pt x="304800" y="171450"/>
                </a:lnTo>
                <a:cubicBezTo>
                  <a:pt x="304800" y="187404"/>
                  <a:pt x="286048" y="201513"/>
                  <a:pt x="257175" y="210145"/>
                </a:cubicBezTo>
                <a:close/>
                <a:moveTo>
                  <a:pt x="257175" y="152995"/>
                </a:moveTo>
                <a:lnTo>
                  <a:pt x="257175" y="133350"/>
                </a:lnTo>
                <a:cubicBezTo>
                  <a:pt x="257175" y="130671"/>
                  <a:pt x="256937" y="128111"/>
                  <a:pt x="256580" y="125611"/>
                </a:cubicBezTo>
                <a:cubicBezTo>
                  <a:pt x="265807" y="123289"/>
                  <a:pt x="274439" y="120491"/>
                  <a:pt x="282297" y="117157"/>
                </a:cubicBezTo>
                <a:cubicBezTo>
                  <a:pt x="290155" y="113824"/>
                  <a:pt x="297835" y="109895"/>
                  <a:pt x="304800" y="105073"/>
                </a:cubicBezTo>
                <a:lnTo>
                  <a:pt x="304800" y="114240"/>
                </a:lnTo>
                <a:cubicBezTo>
                  <a:pt x="304800" y="130195"/>
                  <a:pt x="286048" y="144304"/>
                  <a:pt x="257175" y="152936"/>
                </a:cubicBezTo>
                <a:close/>
                <a:moveTo>
                  <a:pt x="0" y="142875"/>
                </a:moveTo>
                <a:lnTo>
                  <a:pt x="0" y="133350"/>
                </a:lnTo>
                <a:cubicBezTo>
                  <a:pt x="0" y="107037"/>
                  <a:pt x="51197" y="85725"/>
                  <a:pt x="114300" y="85725"/>
                </a:cubicBezTo>
                <a:cubicBezTo>
                  <a:pt x="177403" y="85725"/>
                  <a:pt x="228600" y="107037"/>
                  <a:pt x="228600" y="133350"/>
                </a:cubicBezTo>
                <a:lnTo>
                  <a:pt x="228600" y="142875"/>
                </a:lnTo>
                <a:cubicBezTo>
                  <a:pt x="228600" y="169188"/>
                  <a:pt x="177403" y="190500"/>
                  <a:pt x="114300" y="190500"/>
                </a:cubicBezTo>
                <a:cubicBezTo>
                  <a:pt x="51197" y="190500"/>
                  <a:pt x="0" y="169188"/>
                  <a:pt x="0" y="142875"/>
                </a:cubicBezTo>
                <a:close/>
                <a:moveTo>
                  <a:pt x="228600" y="200025"/>
                </a:moveTo>
                <a:cubicBezTo>
                  <a:pt x="228600" y="226338"/>
                  <a:pt x="177403" y="247650"/>
                  <a:pt x="114300" y="247650"/>
                </a:cubicBezTo>
                <a:cubicBezTo>
                  <a:pt x="51197" y="247650"/>
                  <a:pt x="0" y="226338"/>
                  <a:pt x="0" y="200025"/>
                </a:cubicBezTo>
                <a:lnTo>
                  <a:pt x="0" y="190857"/>
                </a:lnTo>
                <a:cubicBezTo>
                  <a:pt x="6906" y="195679"/>
                  <a:pt x="14585" y="199608"/>
                  <a:pt x="22503" y="202942"/>
                </a:cubicBezTo>
                <a:cubicBezTo>
                  <a:pt x="47446" y="213360"/>
                  <a:pt x="79950" y="219075"/>
                  <a:pt x="114300" y="219075"/>
                </a:cubicBezTo>
                <a:cubicBezTo>
                  <a:pt x="148650" y="219075"/>
                  <a:pt x="181154" y="213300"/>
                  <a:pt x="206097" y="202942"/>
                </a:cubicBezTo>
                <a:cubicBezTo>
                  <a:pt x="213955" y="199668"/>
                  <a:pt x="221635" y="195679"/>
                  <a:pt x="228600" y="190857"/>
                </a:cubicBezTo>
                <a:lnTo>
                  <a:pt x="228600" y="200025"/>
                </a:lnTo>
                <a:close/>
                <a:moveTo>
                  <a:pt x="228600" y="248007"/>
                </a:moveTo>
                <a:lnTo>
                  <a:pt x="228600" y="257175"/>
                </a:lnTo>
                <a:cubicBezTo>
                  <a:pt x="228600" y="283488"/>
                  <a:pt x="177403" y="304800"/>
                  <a:pt x="114300" y="304800"/>
                </a:cubicBezTo>
                <a:cubicBezTo>
                  <a:pt x="51197" y="304800"/>
                  <a:pt x="0" y="283488"/>
                  <a:pt x="0" y="257175"/>
                </a:cubicBezTo>
                <a:lnTo>
                  <a:pt x="0" y="248007"/>
                </a:lnTo>
                <a:cubicBezTo>
                  <a:pt x="6906" y="252829"/>
                  <a:pt x="14585" y="256758"/>
                  <a:pt x="22503" y="260092"/>
                </a:cubicBezTo>
                <a:cubicBezTo>
                  <a:pt x="47446" y="270510"/>
                  <a:pt x="79950" y="276225"/>
                  <a:pt x="114300" y="276225"/>
                </a:cubicBezTo>
                <a:cubicBezTo>
                  <a:pt x="148650" y="276225"/>
                  <a:pt x="181154" y="270450"/>
                  <a:pt x="206097" y="260092"/>
                </a:cubicBezTo>
                <a:cubicBezTo>
                  <a:pt x="213955" y="256818"/>
                  <a:pt x="221635" y="252829"/>
                  <a:pt x="228600" y="248007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1303000" y="1498600"/>
            <a:ext cx="1968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Refund Cap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335000" y="1524000"/>
            <a:ext cx="1968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 →  RESOLUTION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896600" y="1930400"/>
            <a:ext cx="4343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Blocks refunds &gt; $500; requires human approval for large amounts.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896600" y="2667000"/>
            <a:ext cx="4343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refund &gt; $500 USD → blocked with escalation. Protects against abuse and financial risk.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03500" y="4953000"/>
            <a:ext cx="4699000" cy="3048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3500" y="4953000"/>
            <a:ext cx="46990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2100" y="518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285750"/>
                </a:moveTo>
                <a:cubicBezTo>
                  <a:pt x="236577" y="285750"/>
                  <a:pt x="304800" y="221754"/>
                  <a:pt x="304800" y="142875"/>
                </a:cubicBezTo>
                <a:cubicBezTo>
                  <a:pt x="304800" y="63996"/>
                  <a:pt x="236577" y="0"/>
                  <a:pt x="152400" y="0"/>
                </a:cubicBezTo>
                <a:cubicBezTo>
                  <a:pt x="68223" y="0"/>
                  <a:pt x="0" y="63996"/>
                  <a:pt x="0" y="142875"/>
                </a:cubicBezTo>
                <a:cubicBezTo>
                  <a:pt x="0" y="175200"/>
                  <a:pt x="11430" y="204966"/>
                  <a:pt x="30718" y="228898"/>
                </a:cubicBezTo>
                <a:lnTo>
                  <a:pt x="1667" y="283845"/>
                </a:lnTo>
                <a:cubicBezTo>
                  <a:pt x="-1191" y="289203"/>
                  <a:pt x="-298" y="295751"/>
                  <a:pt x="3810" y="300216"/>
                </a:cubicBezTo>
                <a:cubicBezTo>
                  <a:pt x="7918" y="304681"/>
                  <a:pt x="14407" y="306050"/>
                  <a:pt x="19943" y="303669"/>
                </a:cubicBezTo>
                <a:lnTo>
                  <a:pt x="90428" y="273487"/>
                </a:lnTo>
                <a:cubicBezTo>
                  <a:pt x="109359" y="281345"/>
                  <a:pt x="130314" y="285750"/>
                  <a:pt x="152400" y="285750"/>
                </a:cubicBezTo>
                <a:close/>
                <a:moveTo>
                  <a:pt x="76200" y="123825"/>
                </a:moveTo>
                <a:cubicBezTo>
                  <a:pt x="86714" y="123825"/>
                  <a:pt x="95250" y="132361"/>
                  <a:pt x="95250" y="142875"/>
                </a:cubicBezTo>
                <a:cubicBezTo>
                  <a:pt x="95250" y="153389"/>
                  <a:pt x="86714" y="161925"/>
                  <a:pt x="76200" y="161925"/>
                </a:cubicBezTo>
                <a:cubicBezTo>
                  <a:pt x="65686" y="161925"/>
                  <a:pt x="57150" y="153389"/>
                  <a:pt x="57150" y="142875"/>
                </a:cubicBezTo>
                <a:cubicBezTo>
                  <a:pt x="57150" y="132361"/>
                  <a:pt x="65686" y="123825"/>
                  <a:pt x="76200" y="123825"/>
                </a:cubicBezTo>
                <a:close/>
                <a:moveTo>
                  <a:pt x="152400" y="123825"/>
                </a:moveTo>
                <a:cubicBezTo>
                  <a:pt x="162914" y="123825"/>
                  <a:pt x="171450" y="132361"/>
                  <a:pt x="171450" y="142875"/>
                </a:cubicBezTo>
                <a:cubicBezTo>
                  <a:pt x="171450" y="153389"/>
                  <a:pt x="162914" y="161925"/>
                  <a:pt x="152400" y="161925"/>
                </a:cubicBezTo>
                <a:cubicBezTo>
                  <a:pt x="141886" y="161925"/>
                  <a:pt x="133350" y="153389"/>
                  <a:pt x="133350" y="142875"/>
                </a:cubicBezTo>
                <a:cubicBezTo>
                  <a:pt x="133350" y="132361"/>
                  <a:pt x="141886" y="123825"/>
                  <a:pt x="152400" y="123825"/>
                </a:cubicBezTo>
                <a:close/>
                <a:moveTo>
                  <a:pt x="209550" y="142875"/>
                </a:moveTo>
                <a:cubicBezTo>
                  <a:pt x="209550" y="132361"/>
                  <a:pt x="218086" y="123825"/>
                  <a:pt x="228600" y="123825"/>
                </a:cubicBezTo>
                <a:cubicBezTo>
                  <a:pt x="239114" y="123825"/>
                  <a:pt x="247650" y="132361"/>
                  <a:pt x="247650" y="142875"/>
                </a:cubicBezTo>
                <a:cubicBezTo>
                  <a:pt x="247650" y="153389"/>
                  <a:pt x="239114" y="161925"/>
                  <a:pt x="228600" y="161925"/>
                </a:cubicBezTo>
                <a:cubicBezTo>
                  <a:pt x="218086" y="161925"/>
                  <a:pt x="209550" y="153389"/>
                  <a:pt x="209550" y="14287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3238500" y="51816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Voice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7500" y="52070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 →  COMMS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2100" y="5613400"/>
            <a:ext cx="421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Enforces consistent brand tone across all customer communications.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832100" y="63500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Replaces prohibited language • Enforces 150-word limit • Ensures professional, on-brand responses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6500" y="4953000"/>
            <a:ext cx="4699000" cy="3048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56500" y="4953000"/>
            <a:ext cx="4699000" cy="381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7785100" y="518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8191500" y="51816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 Signal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350500" y="52070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 →  POLICY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85100" y="5613400"/>
            <a:ext cx="421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Cross-references return request against fraud DB before approval.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85100" y="63500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get_fraud_db_match() checks customer history. Fraud flag or DB match → escalate to human.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609600"/>
            <a:ext cx="584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24000" y="609600"/>
            <a:ext cx="11353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&amp; OBSERVABILITY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3492500" cy="5334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270000"/>
            <a:ext cx="34925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33363"/>
                </a:moveTo>
                <a:cubicBezTo>
                  <a:pt x="0" y="288578"/>
                  <a:pt x="39820" y="333375"/>
                  <a:pt x="88900" y="333375"/>
                </a:cubicBezTo>
                <a:lnTo>
                  <a:pt x="276578" y="333375"/>
                </a:lnTo>
                <a:cubicBezTo>
                  <a:pt x="320225" y="333375"/>
                  <a:pt x="355600" y="293578"/>
                  <a:pt x="355600" y="244475"/>
                </a:cubicBezTo>
                <a:cubicBezTo>
                  <a:pt x="355600" y="208637"/>
                  <a:pt x="336770" y="177731"/>
                  <a:pt x="309607" y="163701"/>
                </a:cubicBezTo>
                <a:cubicBezTo>
                  <a:pt x="313743" y="154603"/>
                  <a:pt x="316089" y="144254"/>
                  <a:pt x="316089" y="133350"/>
                </a:cubicBezTo>
                <a:cubicBezTo>
                  <a:pt x="316089" y="96540"/>
                  <a:pt x="289542" y="66675"/>
                  <a:pt x="256822" y="66675"/>
                </a:cubicBezTo>
                <a:cubicBezTo>
                  <a:pt x="245895" y="66675"/>
                  <a:pt x="235708" y="70009"/>
                  <a:pt x="226942" y="75773"/>
                </a:cubicBezTo>
                <a:cubicBezTo>
                  <a:pt x="212064" y="43964"/>
                  <a:pt x="182368" y="22225"/>
                  <a:pt x="148167" y="22225"/>
                </a:cubicBezTo>
                <a:cubicBezTo>
                  <a:pt x="99086" y="22225"/>
                  <a:pt x="59267" y="67022"/>
                  <a:pt x="59267" y="122238"/>
                </a:cubicBezTo>
                <a:cubicBezTo>
                  <a:pt x="59267" y="127794"/>
                  <a:pt x="59699" y="133281"/>
                  <a:pt x="60440" y="138559"/>
                </a:cubicBezTo>
                <a:cubicBezTo>
                  <a:pt x="25312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152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90600" y="1930400"/>
            <a:ext cx="1016000" cy="2286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19304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90600" y="2311400"/>
            <a:ext cx="3048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2463800"/>
            <a:ext cx="304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Deployment manifests (replicas, probes)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Horizontal Pod Autoscaler (HPA)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ConfigMap &amp; Secret management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Service discovery &amp; load balancing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08500" y="1270000"/>
            <a:ext cx="3492500" cy="5334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8500" y="1270000"/>
            <a:ext cx="3492500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47371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44450"/>
                </a:moveTo>
                <a:cubicBezTo>
                  <a:pt x="14932" y="44450"/>
                  <a:pt x="0" y="59382"/>
                  <a:pt x="0" y="77788"/>
                </a:cubicBezTo>
                <a:cubicBezTo>
                  <a:pt x="0" y="88275"/>
                  <a:pt x="4931" y="98137"/>
                  <a:pt x="13335" y="104458"/>
                </a:cubicBezTo>
                <a:lnTo>
                  <a:pt x="157798" y="212804"/>
                </a:lnTo>
                <a:cubicBezTo>
                  <a:pt x="169674" y="221694"/>
                  <a:pt x="185926" y="221694"/>
                  <a:pt x="197803" y="212804"/>
                </a:cubicBezTo>
                <a:lnTo>
                  <a:pt x="342265" y="104457"/>
                </a:lnTo>
                <a:cubicBezTo>
                  <a:pt x="350669" y="98137"/>
                  <a:pt x="355600" y="88275"/>
                  <a:pt x="355600" y="77787"/>
                </a:cubicBezTo>
                <a:cubicBezTo>
                  <a:pt x="355600" y="59382"/>
                  <a:pt x="340668" y="44450"/>
                  <a:pt x="322263" y="44450"/>
                </a:cubicBezTo>
                <a:lnTo>
                  <a:pt x="33337" y="44450"/>
                </a:lnTo>
                <a:close/>
                <a:moveTo>
                  <a:pt x="0" y="136128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36128"/>
                </a:lnTo>
                <a:lnTo>
                  <a:pt x="217805" y="239474"/>
                </a:lnTo>
                <a:cubicBezTo>
                  <a:pt x="194121" y="257254"/>
                  <a:pt x="161479" y="257254"/>
                  <a:pt x="137795" y="239474"/>
                </a:cubicBezTo>
                <a:lnTo>
                  <a:pt x="0" y="13612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194300" y="152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KAFKA STREAMING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37100" y="1930400"/>
            <a:ext cx="10160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737100" y="19304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7100" y="2311400"/>
            <a:ext cx="3048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737100" y="2463800"/>
            <a:ext cx="304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4 consumer channels: web_chat, email, whatsapp, sms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Async message processing pipeline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Partition-based consumer groups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At-least-once delivery guarantee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55000" y="1270000"/>
            <a:ext cx="3492500" cy="5334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55000" y="1270000"/>
            <a:ext cx="34925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84836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100013" y="155575"/>
                </a:moveTo>
                <a:cubicBezTo>
                  <a:pt x="112306" y="155575"/>
                  <a:pt x="122238" y="165507"/>
                  <a:pt x="122238" y="177800"/>
                </a:cubicBezTo>
                <a:lnTo>
                  <a:pt x="122238" y="222250"/>
                </a:lnTo>
                <a:cubicBezTo>
                  <a:pt x="122238" y="234543"/>
                  <a:pt x="112306" y="244475"/>
                  <a:pt x="100013" y="244475"/>
                </a:cubicBezTo>
                <a:cubicBezTo>
                  <a:pt x="87719" y="244475"/>
                  <a:pt x="77788" y="234543"/>
                  <a:pt x="77788" y="222250"/>
                </a:cubicBezTo>
                <a:lnTo>
                  <a:pt x="77788" y="177800"/>
                </a:lnTo>
                <a:cubicBezTo>
                  <a:pt x="77788" y="165507"/>
                  <a:pt x="87719" y="155575"/>
                  <a:pt x="100013" y="155575"/>
                </a:cubicBezTo>
                <a:close/>
                <a:moveTo>
                  <a:pt x="200025" y="111125"/>
                </a:moveTo>
                <a:lnTo>
                  <a:pt x="200025" y="222250"/>
                </a:lnTo>
                <a:cubicBezTo>
                  <a:pt x="200025" y="234543"/>
                  <a:pt x="190093" y="244475"/>
                  <a:pt x="177800" y="244475"/>
                </a:cubicBezTo>
                <a:cubicBezTo>
                  <a:pt x="165507" y="244475"/>
                  <a:pt x="155575" y="234543"/>
                  <a:pt x="155575" y="222250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55587" y="133350"/>
                </a:moveTo>
                <a:cubicBezTo>
                  <a:pt x="267881" y="133350"/>
                  <a:pt x="277813" y="143282"/>
                  <a:pt x="277813" y="155575"/>
                </a:cubicBezTo>
                <a:lnTo>
                  <a:pt x="277813" y="222250"/>
                </a:lnTo>
                <a:cubicBezTo>
                  <a:pt x="277813" y="234543"/>
                  <a:pt x="267881" y="244475"/>
                  <a:pt x="255587" y="244475"/>
                </a:cubicBezTo>
                <a:cubicBezTo>
                  <a:pt x="243294" y="244475"/>
                  <a:pt x="233363" y="234543"/>
                  <a:pt x="233363" y="222250"/>
                </a:cubicBezTo>
                <a:lnTo>
                  <a:pt x="233363" y="155575"/>
                </a:lnTo>
                <a:cubicBezTo>
                  <a:pt x="233363" y="143282"/>
                  <a:pt x="243294" y="133350"/>
                  <a:pt x="255587" y="133350"/>
                </a:cubicBezTo>
                <a:close/>
                <a:moveTo>
                  <a:pt x="355600" y="66675"/>
                </a:moveTo>
                <a:lnTo>
                  <a:pt x="355600" y="222250"/>
                </a:lnTo>
                <a:cubicBezTo>
                  <a:pt x="355600" y="234543"/>
                  <a:pt x="345668" y="244475"/>
                  <a:pt x="333375" y="244475"/>
                </a:cubicBezTo>
                <a:cubicBezTo>
                  <a:pt x="321082" y="244475"/>
                  <a:pt x="311150" y="234543"/>
                  <a:pt x="311150" y="222250"/>
                </a:cubicBezTo>
                <a:lnTo>
                  <a:pt x="311150" y="66675"/>
                </a:lnTo>
                <a:cubicBezTo>
                  <a:pt x="311150" y="54382"/>
                  <a:pt x="321082" y="44450"/>
                  <a:pt x="333375" y="44450"/>
                </a:cubicBezTo>
                <a:cubicBezTo>
                  <a:pt x="345668" y="44450"/>
                  <a:pt x="355600" y="54382"/>
                  <a:pt x="355600" y="666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940800" y="152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DATADOG APM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83600" y="1930400"/>
            <a:ext cx="101600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8483600" y="19304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83600" y="2311400"/>
            <a:ext cx="3048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8483600" y="2463800"/>
            <a:ext cx="304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configure_datadog() auto-instrumentation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Agent spans + tool spans per request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Resolution recording metrics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 PagerDuty monitors: queue depth, error rate, P95 latency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2001500" y="1270000"/>
            <a:ext cx="3492500" cy="5334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01500" y="1270000"/>
            <a:ext cx="34925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122301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1073" y="-13127"/>
                </a:moveTo>
                <a:cubicBezTo>
                  <a:pt x="188542" y="-18683"/>
                  <a:pt x="183418" y="-22225"/>
                  <a:pt x="177862" y="-22225"/>
                </a:cubicBezTo>
                <a:cubicBezTo>
                  <a:pt x="172305" y="-22225"/>
                  <a:pt x="167181" y="-18683"/>
                  <a:pt x="164650" y="-13127"/>
                </a:cubicBezTo>
                <a:lnTo>
                  <a:pt x="119212" y="87025"/>
                </a:lnTo>
                <a:lnTo>
                  <a:pt x="20496" y="104666"/>
                </a:lnTo>
                <a:cubicBezTo>
                  <a:pt x="15002" y="105638"/>
                  <a:pt x="10433" y="110014"/>
                  <a:pt x="8705" y="115987"/>
                </a:cubicBezTo>
                <a:cubicBezTo>
                  <a:pt x="6976" y="121960"/>
                  <a:pt x="8396" y="128488"/>
                  <a:pt x="12285" y="132933"/>
                </a:cubicBezTo>
                <a:lnTo>
                  <a:pt x="82912" y="212457"/>
                </a:lnTo>
                <a:lnTo>
                  <a:pt x="67354" y="323513"/>
                </a:lnTo>
                <a:cubicBezTo>
                  <a:pt x="66490" y="329694"/>
                  <a:pt x="68774" y="335945"/>
                  <a:pt x="73281" y="339626"/>
                </a:cubicBezTo>
                <a:cubicBezTo>
                  <a:pt x="77788" y="343307"/>
                  <a:pt x="83714" y="343862"/>
                  <a:pt x="88715" y="341015"/>
                </a:cubicBezTo>
                <a:lnTo>
                  <a:pt x="177862" y="290036"/>
                </a:lnTo>
                <a:lnTo>
                  <a:pt x="266947" y="341015"/>
                </a:lnTo>
                <a:cubicBezTo>
                  <a:pt x="271886" y="343862"/>
                  <a:pt x="277874" y="343307"/>
                  <a:pt x="282381" y="339626"/>
                </a:cubicBezTo>
                <a:cubicBezTo>
                  <a:pt x="286888" y="335945"/>
                  <a:pt x="289172" y="329763"/>
                  <a:pt x="288308" y="323513"/>
                </a:cubicBezTo>
                <a:lnTo>
                  <a:pt x="272688" y="212457"/>
                </a:lnTo>
                <a:lnTo>
                  <a:pt x="343315" y="132933"/>
                </a:lnTo>
                <a:cubicBezTo>
                  <a:pt x="347266" y="128488"/>
                  <a:pt x="348624" y="121960"/>
                  <a:pt x="346895" y="115987"/>
                </a:cubicBezTo>
                <a:cubicBezTo>
                  <a:pt x="345167" y="110014"/>
                  <a:pt x="340660" y="105638"/>
                  <a:pt x="335104" y="104666"/>
                </a:cubicBezTo>
                <a:lnTo>
                  <a:pt x="236449" y="87025"/>
                </a:lnTo>
                <a:lnTo>
                  <a:pt x="191073" y="-13127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12687300" y="152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CSAT PIPELINE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230100" y="1930400"/>
            <a:ext cx="10160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12230100" y="19304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230100" y="2311400"/>
            <a:ext cx="3048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12230100" y="2463800"/>
            <a:ext cx="304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Rolling CSAT score computation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Datadog metric emission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customer satisfaction tracking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Automated trend analysis &amp; alerts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62000" y="6921500"/>
            <a:ext cx="14732000" cy="635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6000" y="7073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4000" y="102096"/>
                </a:moveTo>
                <a:cubicBezTo>
                  <a:pt x="245609" y="106958"/>
                  <a:pt x="235971" y="110877"/>
                  <a:pt x="225935" y="114002"/>
                </a:cubicBezTo>
                <a:cubicBezTo>
                  <a:pt x="199288" y="122337"/>
                  <a:pt x="164306" y="127000"/>
                  <a:pt x="127000" y="127000"/>
                </a:cubicBezTo>
                <a:cubicBezTo>
                  <a:pt x="89694" y="127000"/>
                  <a:pt x="54655" y="122287"/>
                  <a:pt x="28065" y="114002"/>
                </a:cubicBezTo>
                <a:cubicBezTo>
                  <a:pt x="18086" y="110877"/>
                  <a:pt x="8391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56867" y="182563"/>
                  <a:pt x="127000" y="182563"/>
                </a:cubicBezTo>
                <a:cubicBezTo>
                  <a:pt x="197133" y="182563"/>
                  <a:pt x="254000" y="164802"/>
                  <a:pt x="254000" y="142875"/>
                </a:cubicBezTo>
                <a:lnTo>
                  <a:pt x="254000" y="102096"/>
                </a:lnTo>
                <a:close/>
                <a:moveTo>
                  <a:pt x="254000" y="63500"/>
                </a:moveTo>
                <a:lnTo>
                  <a:pt x="254000" y="39688"/>
                </a:lnTo>
                <a:cubicBezTo>
                  <a:pt x="254000" y="17760"/>
                  <a:pt x="197133" y="0"/>
                  <a:pt x="127000" y="0"/>
                </a:cubicBezTo>
                <a:cubicBezTo>
                  <a:pt x="56867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56867" y="103188"/>
                  <a:pt x="127000" y="103188"/>
                </a:cubicBezTo>
                <a:cubicBezTo>
                  <a:pt x="197133" y="103188"/>
                  <a:pt x="254000" y="85427"/>
                  <a:pt x="254000" y="63500"/>
                </a:cubicBezTo>
                <a:close/>
                <a:moveTo>
                  <a:pt x="225935" y="193377"/>
                </a:moveTo>
                <a:cubicBezTo>
                  <a:pt x="199345" y="201662"/>
                  <a:pt x="164363" y="206375"/>
                  <a:pt x="127000" y="206375"/>
                </a:cubicBezTo>
                <a:cubicBezTo>
                  <a:pt x="89637" y="206375"/>
                  <a:pt x="54655" y="201662"/>
                  <a:pt x="28065" y="193377"/>
                </a:cubicBezTo>
                <a:cubicBezTo>
                  <a:pt x="18086" y="190252"/>
                  <a:pt x="8391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56867" y="254000"/>
                  <a:pt x="127000" y="254000"/>
                </a:cubicBezTo>
                <a:cubicBezTo>
                  <a:pt x="197133" y="254000"/>
                  <a:pt x="254000" y="236240"/>
                  <a:pt x="254000" y="214313"/>
                </a:cubicBezTo>
                <a:lnTo>
                  <a:pt x="254000" y="181471"/>
                </a:lnTo>
                <a:cubicBezTo>
                  <a:pt x="245609" y="186333"/>
                  <a:pt x="235971" y="190252"/>
                  <a:pt x="225935" y="193377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40" name="Text 38"/>
          <p:cNvSpPr/>
          <p:nvPr/>
        </p:nvSpPr>
        <p:spPr>
          <a:xfrm>
            <a:off x="1371600" y="6921500"/>
            <a:ext cx="138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Store: Redis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24h active TTL, 90d archive — zero context loss across handoffs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09600"/>
            <a:ext cx="533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SUITE &amp; QUALITY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270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353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62000" y="209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PASSED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skipped  •  0 failed  •  100% pass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Khizar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14500" y="2895600"/>
            <a:ext cx="5080000" cy="177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714500" y="2895600"/>
            <a:ext cx="5080000" cy="177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883400" y="2857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2000" y="31750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Mustafa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4500" y="3213100"/>
            <a:ext cx="4241800" cy="177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714500" y="3213100"/>
            <a:ext cx="4241800" cy="177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6045200" y="317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34925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Hammad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14500" y="3530600"/>
            <a:ext cx="2603500" cy="177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1714500" y="3530600"/>
            <a:ext cx="2603500" cy="177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406900" y="3492500"/>
            <a:ext cx="444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38100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14500" y="3848100"/>
            <a:ext cx="1651000" cy="177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3848100"/>
            <a:ext cx="1651000" cy="177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3454400" y="3810000"/>
            <a:ext cx="444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000" y="41275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Ammar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14500" y="4165600"/>
            <a:ext cx="558800" cy="177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4165600"/>
            <a:ext cx="558800" cy="177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2362200" y="4127500"/>
            <a:ext cx="444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74000" y="1270000"/>
            <a:ext cx="7620000" cy="5080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74000" y="1270000"/>
            <a:ext cx="76200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8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32" name="Text 30"/>
          <p:cNvSpPr/>
          <p:nvPr/>
        </p:nvSpPr>
        <p:spPr>
          <a:xfrm>
            <a:off x="85344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8000" y="1968500"/>
            <a:ext cx="7112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353 tests passed, 0 skipped, 0 failed — 100% pass rate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9 test files covering every agent, tool, and guardrail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Ruff linting (line-length=100) — zero warnings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mypy strict mode type checking (Python 3.11+)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Tool output contract enforced in every test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Edge cases: empty IDs, XSS, 10K-char inputs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Mock-based E2E tests with respx for HTTP tools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Database tests across all 3 backends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Conventional commits: feat:, fix:, test:, docs: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CODEOWNERS auto-assigns Lead reviewer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Main branch protected — PRs require review + CI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2000" y="6604000"/>
            <a:ext cx="7175500" cy="69850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6000" y="6604000"/>
            <a:ext cx="6667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ruff check . --fix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•  </a:t>
            </a:r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pytest tests/ -v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Pre-PR checklist (both must pass)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18500" y="6604000"/>
            <a:ext cx="7175500" cy="69850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72500" y="6604000"/>
            <a:ext cx="6667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Coverage: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Policy, Resolution, Billing, Database, Infra, Integration, Tracking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09600"/>
            <a:ext cx="533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FRONTEND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14732000" cy="101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146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4224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Single-Page HTML Presentation — Zero Dependencies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98600" y="1841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frontend/index.html  •  Run: python -m http.server 3000  •  Backend on port 8000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03500"/>
            <a:ext cx="4699000" cy="24765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281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DARK GLASSMORPHISM THEME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16000" y="32766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Animated gradient background with modern glass effects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2603500"/>
            <a:ext cx="4699000" cy="24765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9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3200" y="85725"/>
                </a:moveTo>
                <a:cubicBezTo>
                  <a:pt x="203200" y="143589"/>
                  <a:pt x="157692" y="190500"/>
                  <a:pt x="101600" y="190500"/>
                </a:cubicBezTo>
                <a:cubicBezTo>
                  <a:pt x="87471" y="190500"/>
                  <a:pt x="74030" y="187523"/>
                  <a:pt x="61807" y="182166"/>
                </a:cubicBezTo>
                <a:lnTo>
                  <a:pt x="18627" y="207883"/>
                </a:lnTo>
                <a:cubicBezTo>
                  <a:pt x="13705" y="210800"/>
                  <a:pt x="7673" y="209788"/>
                  <a:pt x="3704" y="205383"/>
                </a:cubicBezTo>
                <a:cubicBezTo>
                  <a:pt x="-265" y="200978"/>
                  <a:pt x="-1164" y="194131"/>
                  <a:pt x="1482" y="188595"/>
                </a:cubicBezTo>
                <a:lnTo>
                  <a:pt x="20320" y="148590"/>
                </a:lnTo>
                <a:cubicBezTo>
                  <a:pt x="7567" y="131088"/>
                  <a:pt x="0" y="109299"/>
                  <a:pt x="0" y="85725"/>
                </a:cubicBezTo>
                <a:cubicBezTo>
                  <a:pt x="0" y="27861"/>
                  <a:pt x="45508" y="-19050"/>
                  <a:pt x="101600" y="-19050"/>
                </a:cubicBezTo>
                <a:cubicBezTo>
                  <a:pt x="157692" y="-19050"/>
                  <a:pt x="203200" y="27861"/>
                  <a:pt x="203200" y="85725"/>
                </a:cubicBezTo>
                <a:close/>
                <a:moveTo>
                  <a:pt x="203200" y="304800"/>
                </a:moveTo>
                <a:cubicBezTo>
                  <a:pt x="153405" y="304800"/>
                  <a:pt x="111972" y="267831"/>
                  <a:pt x="103293" y="219075"/>
                </a:cubicBezTo>
                <a:cubicBezTo>
                  <a:pt x="166793" y="218182"/>
                  <a:pt x="221985" y="167342"/>
                  <a:pt x="228071" y="98405"/>
                </a:cubicBezTo>
                <a:cubicBezTo>
                  <a:pt x="272150" y="109835"/>
                  <a:pt x="304800" y="150971"/>
                  <a:pt x="304800" y="200025"/>
                </a:cubicBezTo>
                <a:cubicBezTo>
                  <a:pt x="304800" y="223599"/>
                  <a:pt x="297233" y="245388"/>
                  <a:pt x="284480" y="262890"/>
                </a:cubicBezTo>
                <a:lnTo>
                  <a:pt x="303318" y="302895"/>
                </a:lnTo>
                <a:cubicBezTo>
                  <a:pt x="305911" y="308431"/>
                  <a:pt x="305012" y="315218"/>
                  <a:pt x="301096" y="319683"/>
                </a:cubicBezTo>
                <a:cubicBezTo>
                  <a:pt x="297180" y="324148"/>
                  <a:pt x="291095" y="325160"/>
                  <a:pt x="286173" y="322183"/>
                </a:cubicBezTo>
                <a:lnTo>
                  <a:pt x="242993" y="296466"/>
                </a:lnTo>
                <a:cubicBezTo>
                  <a:pt x="230770" y="301823"/>
                  <a:pt x="217329" y="304800"/>
                  <a:pt x="203200" y="3048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75400" y="281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CHAT INTERFACE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69000" y="32766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Wired to backend API POST /webhook/message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68000" y="2603500"/>
            <a:ext cx="4826000" cy="24765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22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1328400" y="281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VISUALIZATION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22000" y="32766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flow diagram with interactive routing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4699000" cy="24765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00" y="554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2049" y="21967"/>
                </a:moveTo>
                <a:cubicBezTo>
                  <a:pt x="53612" y="17919"/>
                  <a:pt x="43407" y="18098"/>
                  <a:pt x="35106" y="22384"/>
                </a:cubicBezTo>
                <a:cubicBezTo>
                  <a:pt x="26806" y="26670"/>
                  <a:pt x="21771" y="34469"/>
                  <a:pt x="21771" y="42863"/>
                </a:cubicBezTo>
                <a:lnTo>
                  <a:pt x="21771" y="261937"/>
                </a:lnTo>
                <a:cubicBezTo>
                  <a:pt x="21771" y="270331"/>
                  <a:pt x="26874" y="278130"/>
                  <a:pt x="35106" y="282416"/>
                </a:cubicBezTo>
                <a:cubicBezTo>
                  <a:pt x="43339" y="286702"/>
                  <a:pt x="53612" y="286881"/>
                  <a:pt x="62049" y="282833"/>
                </a:cubicBezTo>
                <a:lnTo>
                  <a:pt x="290649" y="173295"/>
                </a:lnTo>
                <a:cubicBezTo>
                  <a:pt x="299357" y="169128"/>
                  <a:pt x="304800" y="161092"/>
                  <a:pt x="304800" y="152400"/>
                </a:cubicBezTo>
                <a:cubicBezTo>
                  <a:pt x="304800" y="143708"/>
                  <a:pt x="299357" y="135672"/>
                  <a:pt x="290649" y="131505"/>
                </a:cubicBezTo>
                <a:lnTo>
                  <a:pt x="62049" y="21967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422400" y="55499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SCENARIO RUNNER CARDS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6000" y="60071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Pre-built test scenarios for instant demos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0" y="5334000"/>
            <a:ext cx="4699000" cy="24765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9000" y="554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375400" y="55499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GUARDRAIL DEMOS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969000" y="60071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Interactive: PII, sentiment, refund cap, brand voice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68000" y="5334000"/>
            <a:ext cx="4826000" cy="24765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22000" y="554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57150"/>
                </a:moveTo>
                <a:cubicBezTo>
                  <a:pt x="304800" y="87035"/>
                  <a:pt x="269617" y="131624"/>
                  <a:pt x="254437" y="149423"/>
                </a:cubicBezTo>
                <a:cubicBezTo>
                  <a:pt x="252174" y="152043"/>
                  <a:pt x="248841" y="153055"/>
                  <a:pt x="245805" y="152400"/>
                </a:cubicBezTo>
                <a:lnTo>
                  <a:pt x="190500" y="152400"/>
                </a:lnTo>
                <a:cubicBezTo>
                  <a:pt x="179963" y="152400"/>
                  <a:pt x="171450" y="160913"/>
                  <a:pt x="171450" y="171450"/>
                </a:cubicBezTo>
                <a:cubicBezTo>
                  <a:pt x="171450" y="181987"/>
                  <a:pt x="179963" y="190500"/>
                  <a:pt x="190500" y="190500"/>
                </a:cubicBezTo>
                <a:lnTo>
                  <a:pt x="247650" y="190500"/>
                </a:lnTo>
                <a:cubicBezTo>
                  <a:pt x="279202" y="190500"/>
                  <a:pt x="304800" y="216098"/>
                  <a:pt x="304800" y="247650"/>
                </a:cubicBezTo>
                <a:cubicBezTo>
                  <a:pt x="304800" y="279202"/>
                  <a:pt x="279202" y="304800"/>
                  <a:pt x="247650" y="304800"/>
                </a:cubicBezTo>
                <a:lnTo>
                  <a:pt x="83106" y="304800"/>
                </a:lnTo>
                <a:cubicBezTo>
                  <a:pt x="88285" y="298906"/>
                  <a:pt x="94595" y="291346"/>
                  <a:pt x="100965" y="282892"/>
                </a:cubicBezTo>
                <a:cubicBezTo>
                  <a:pt x="104715" y="277892"/>
                  <a:pt x="108585" y="272415"/>
                  <a:pt x="112276" y="266700"/>
                </a:cubicBezTo>
                <a:lnTo>
                  <a:pt x="247650" y="266700"/>
                </a:lnTo>
                <a:cubicBezTo>
                  <a:pt x="258187" y="266700"/>
                  <a:pt x="266700" y="258187"/>
                  <a:pt x="266700" y="247650"/>
                </a:cubicBezTo>
                <a:cubicBezTo>
                  <a:pt x="266700" y="237113"/>
                  <a:pt x="258187" y="228600"/>
                  <a:pt x="247650" y="228600"/>
                </a:cubicBezTo>
                <a:lnTo>
                  <a:pt x="190500" y="228600"/>
                </a:lnTo>
                <a:cubicBezTo>
                  <a:pt x="158948" y="228600"/>
                  <a:pt x="133350" y="203002"/>
                  <a:pt x="133350" y="171450"/>
                </a:cubicBezTo>
                <a:cubicBezTo>
                  <a:pt x="133350" y="139898"/>
                  <a:pt x="158948" y="114300"/>
                  <a:pt x="190500" y="114300"/>
                </a:cubicBezTo>
                <a:lnTo>
                  <a:pt x="214193" y="114300"/>
                </a:lnTo>
                <a:cubicBezTo>
                  <a:pt x="201692" y="95548"/>
                  <a:pt x="190500" y="73997"/>
                  <a:pt x="190500" y="57150"/>
                </a:cubicBezTo>
                <a:cubicBezTo>
                  <a:pt x="190500" y="25598"/>
                  <a:pt x="216098" y="0"/>
                  <a:pt x="247650" y="0"/>
                </a:cubicBezTo>
                <a:cubicBezTo>
                  <a:pt x="279202" y="0"/>
                  <a:pt x="304800" y="25598"/>
                  <a:pt x="304800" y="57150"/>
                </a:cubicBezTo>
                <a:close/>
                <a:moveTo>
                  <a:pt x="69711" y="291167"/>
                </a:moveTo>
                <a:cubicBezTo>
                  <a:pt x="67449" y="293727"/>
                  <a:pt x="65425" y="295989"/>
                  <a:pt x="63698" y="297894"/>
                </a:cubicBezTo>
                <a:lnTo>
                  <a:pt x="62627" y="299085"/>
                </a:lnTo>
                <a:lnTo>
                  <a:pt x="62508" y="298966"/>
                </a:lnTo>
                <a:cubicBezTo>
                  <a:pt x="58936" y="301704"/>
                  <a:pt x="53816" y="301347"/>
                  <a:pt x="50602" y="297894"/>
                </a:cubicBezTo>
                <a:cubicBezTo>
                  <a:pt x="35600" y="281583"/>
                  <a:pt x="0" y="239613"/>
                  <a:pt x="0" y="209550"/>
                </a:cubicBezTo>
                <a:cubicBezTo>
                  <a:pt x="0" y="177998"/>
                  <a:pt x="25598" y="152400"/>
                  <a:pt x="57150" y="152400"/>
                </a:cubicBezTo>
                <a:cubicBezTo>
                  <a:pt x="88702" y="152400"/>
                  <a:pt x="114300" y="177998"/>
                  <a:pt x="114300" y="209550"/>
                </a:cubicBezTo>
                <a:cubicBezTo>
                  <a:pt x="114300" y="227409"/>
                  <a:pt x="101739" y="249436"/>
                  <a:pt x="88404" y="267831"/>
                </a:cubicBezTo>
                <a:cubicBezTo>
                  <a:pt x="82034" y="276582"/>
                  <a:pt x="75486" y="284500"/>
                  <a:pt x="70068" y="290751"/>
                </a:cubicBezTo>
                <a:lnTo>
                  <a:pt x="69711" y="291167"/>
                </a:lnTo>
                <a:close/>
                <a:moveTo>
                  <a:pt x="76200" y="209550"/>
                </a:moveTo>
                <a:cubicBezTo>
                  <a:pt x="76200" y="199036"/>
                  <a:pt x="67664" y="190500"/>
                  <a:pt x="57150" y="190500"/>
                </a:cubicBezTo>
                <a:cubicBezTo>
                  <a:pt x="46636" y="190500"/>
                  <a:pt x="38100" y="199036"/>
                  <a:pt x="38100" y="209550"/>
                </a:cubicBezTo>
                <a:cubicBezTo>
                  <a:pt x="38100" y="220064"/>
                  <a:pt x="46636" y="228600"/>
                  <a:pt x="57150" y="228600"/>
                </a:cubicBezTo>
                <a:cubicBezTo>
                  <a:pt x="67664" y="228600"/>
                  <a:pt x="76200" y="220064"/>
                  <a:pt x="76200" y="209550"/>
                </a:cubicBezTo>
                <a:close/>
                <a:moveTo>
                  <a:pt x="247650" y="76200"/>
                </a:moveTo>
                <a:cubicBezTo>
                  <a:pt x="258164" y="76200"/>
                  <a:pt x="266700" y="67664"/>
                  <a:pt x="266700" y="57150"/>
                </a:cubicBezTo>
                <a:cubicBezTo>
                  <a:pt x="266700" y="46636"/>
                  <a:pt x="258164" y="38100"/>
                  <a:pt x="247650" y="38100"/>
                </a:cubicBezTo>
                <a:cubicBezTo>
                  <a:pt x="237136" y="38100"/>
                  <a:pt x="228600" y="46636"/>
                  <a:pt x="228600" y="57150"/>
                </a:cubicBezTo>
                <a:cubicBezTo>
                  <a:pt x="228600" y="67664"/>
                  <a:pt x="237136" y="76200"/>
                  <a:pt x="247650" y="76200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32" name="Text 30"/>
          <p:cNvSpPr/>
          <p:nvPr/>
        </p:nvSpPr>
        <p:spPr>
          <a:xfrm>
            <a:off x="11328400" y="55499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ROUTING PIPELINE PANEL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922000" y="60071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step visualization with intent detection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09600"/>
            <a:ext cx="533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1143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 &amp; PERFORMANCE TARGETS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4699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270000"/>
            <a:ext cx="46990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1422400" y="1498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RESPONSE 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6000" y="20066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3s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16000" y="2768600"/>
            <a:ext cx="4191000" cy="25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921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message receipt to triage classification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270000"/>
            <a:ext cx="4699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270000"/>
            <a:ext cx="4699000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9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75400" y="1498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RESOLUTION (TIER 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69000" y="20066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30s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5969000" y="2768600"/>
            <a:ext cx="4191000" cy="25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69000" y="2921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Triage to notification for routine 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668000" y="1270000"/>
            <a:ext cx="4826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68000" y="1270000"/>
            <a:ext cx="482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22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cubicBezTo>
                  <a:pt x="167640" y="-10537"/>
                  <a:pt x="160830" y="-19050"/>
                  <a:pt x="152400" y="-19050"/>
                </a:cubicBezTo>
                <a:cubicBezTo>
                  <a:pt x="143970" y="-19050"/>
                  <a:pt x="137160" y="-10537"/>
                  <a:pt x="137160" y="0"/>
                </a:cubicBezTo>
                <a:lnTo>
                  <a:pt x="137160" y="38100"/>
                </a:lnTo>
                <a:lnTo>
                  <a:pt x="91440" y="38100"/>
                </a:lnTo>
                <a:cubicBezTo>
                  <a:pt x="66199" y="38100"/>
                  <a:pt x="45720" y="63698"/>
                  <a:pt x="45720" y="95250"/>
                </a:cubicBezTo>
                <a:lnTo>
                  <a:pt x="45720" y="228600"/>
                </a:lnTo>
                <a:cubicBezTo>
                  <a:pt x="45720" y="260152"/>
                  <a:pt x="66199" y="285750"/>
                  <a:pt x="91440" y="285750"/>
                </a:cubicBezTo>
                <a:lnTo>
                  <a:pt x="213360" y="285750"/>
                </a:lnTo>
                <a:cubicBezTo>
                  <a:pt x="238601" y="285750"/>
                  <a:pt x="259080" y="260152"/>
                  <a:pt x="259080" y="228600"/>
                </a:cubicBezTo>
                <a:lnTo>
                  <a:pt x="259080" y="95250"/>
                </a:lnTo>
                <a:cubicBezTo>
                  <a:pt x="259080" y="63698"/>
                  <a:pt x="238601" y="38100"/>
                  <a:pt x="213360" y="38100"/>
                </a:cubicBezTo>
                <a:lnTo>
                  <a:pt x="167640" y="38100"/>
                </a:lnTo>
                <a:lnTo>
                  <a:pt x="167640" y="0"/>
                </a:lnTo>
                <a:close/>
                <a:moveTo>
                  <a:pt x="76200" y="219075"/>
                </a:moveTo>
                <a:cubicBezTo>
                  <a:pt x="76200" y="211157"/>
                  <a:pt x="81296" y="204787"/>
                  <a:pt x="87630" y="204787"/>
                </a:cubicBezTo>
                <a:lnTo>
                  <a:pt x="102870" y="204787"/>
                </a:lnTo>
                <a:cubicBezTo>
                  <a:pt x="109204" y="204787"/>
                  <a:pt x="114300" y="211157"/>
                  <a:pt x="114300" y="219075"/>
                </a:cubicBezTo>
                <a:cubicBezTo>
                  <a:pt x="114300" y="226993"/>
                  <a:pt x="109204" y="233363"/>
                  <a:pt x="102870" y="233363"/>
                </a:cubicBezTo>
                <a:lnTo>
                  <a:pt x="87630" y="233363"/>
                </a:lnTo>
                <a:cubicBezTo>
                  <a:pt x="81296" y="233363"/>
                  <a:pt x="76200" y="226993"/>
                  <a:pt x="76200" y="219075"/>
                </a:cubicBezTo>
                <a:close/>
                <a:moveTo>
                  <a:pt x="133350" y="219075"/>
                </a:moveTo>
                <a:cubicBezTo>
                  <a:pt x="133350" y="211157"/>
                  <a:pt x="138446" y="204787"/>
                  <a:pt x="144780" y="204787"/>
                </a:cubicBezTo>
                <a:lnTo>
                  <a:pt x="160020" y="204787"/>
                </a:lnTo>
                <a:cubicBezTo>
                  <a:pt x="166354" y="204787"/>
                  <a:pt x="171450" y="211157"/>
                  <a:pt x="171450" y="219075"/>
                </a:cubicBezTo>
                <a:cubicBezTo>
                  <a:pt x="171450" y="226993"/>
                  <a:pt x="166354" y="233363"/>
                  <a:pt x="160020" y="233363"/>
                </a:cubicBezTo>
                <a:lnTo>
                  <a:pt x="144780" y="233363"/>
                </a:lnTo>
                <a:cubicBezTo>
                  <a:pt x="138446" y="233363"/>
                  <a:pt x="133350" y="226993"/>
                  <a:pt x="133350" y="219075"/>
                </a:cubicBezTo>
                <a:close/>
                <a:moveTo>
                  <a:pt x="190500" y="219075"/>
                </a:moveTo>
                <a:cubicBezTo>
                  <a:pt x="190500" y="211157"/>
                  <a:pt x="195596" y="204787"/>
                  <a:pt x="201930" y="204787"/>
                </a:cubicBezTo>
                <a:lnTo>
                  <a:pt x="217170" y="204787"/>
                </a:lnTo>
                <a:cubicBezTo>
                  <a:pt x="223504" y="204787"/>
                  <a:pt x="228600" y="211157"/>
                  <a:pt x="228600" y="219075"/>
                </a:cubicBezTo>
                <a:cubicBezTo>
                  <a:pt x="228600" y="226993"/>
                  <a:pt x="223504" y="233363"/>
                  <a:pt x="217170" y="233363"/>
                </a:cubicBezTo>
                <a:lnTo>
                  <a:pt x="201930" y="233363"/>
                </a:lnTo>
                <a:cubicBezTo>
                  <a:pt x="195596" y="233363"/>
                  <a:pt x="190500" y="226993"/>
                  <a:pt x="190500" y="219075"/>
                </a:cubicBezTo>
                <a:close/>
                <a:moveTo>
                  <a:pt x="106680" y="104775"/>
                </a:moveTo>
                <a:cubicBezTo>
                  <a:pt x="119297" y="104775"/>
                  <a:pt x="129540" y="117579"/>
                  <a:pt x="129540" y="133350"/>
                </a:cubicBezTo>
                <a:cubicBezTo>
                  <a:pt x="129540" y="149121"/>
                  <a:pt x="119297" y="161925"/>
                  <a:pt x="106680" y="161925"/>
                </a:cubicBezTo>
                <a:cubicBezTo>
                  <a:pt x="94063" y="161925"/>
                  <a:pt x="83820" y="149121"/>
                  <a:pt x="83820" y="133350"/>
                </a:cubicBezTo>
                <a:cubicBezTo>
                  <a:pt x="83820" y="117579"/>
                  <a:pt x="94063" y="104775"/>
                  <a:pt x="106680" y="104775"/>
                </a:cubicBezTo>
                <a:close/>
                <a:moveTo>
                  <a:pt x="175260" y="133350"/>
                </a:moveTo>
                <a:cubicBezTo>
                  <a:pt x="175260" y="117579"/>
                  <a:pt x="185503" y="104775"/>
                  <a:pt x="198120" y="104775"/>
                </a:cubicBezTo>
                <a:cubicBezTo>
                  <a:pt x="210737" y="104775"/>
                  <a:pt x="220980" y="117579"/>
                  <a:pt x="220980" y="133350"/>
                </a:cubicBezTo>
                <a:cubicBezTo>
                  <a:pt x="220980" y="149121"/>
                  <a:pt x="210737" y="161925"/>
                  <a:pt x="198120" y="161925"/>
                </a:cubicBezTo>
                <a:cubicBezTo>
                  <a:pt x="185503" y="161925"/>
                  <a:pt x="175260" y="149121"/>
                  <a:pt x="175260" y="133350"/>
                </a:cubicBezTo>
                <a:close/>
                <a:moveTo>
                  <a:pt x="30480" y="133350"/>
                </a:moveTo>
                <a:cubicBezTo>
                  <a:pt x="30480" y="122813"/>
                  <a:pt x="23670" y="114300"/>
                  <a:pt x="15240" y="114300"/>
                </a:cubicBezTo>
                <a:cubicBezTo>
                  <a:pt x="6810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6810" y="209550"/>
                  <a:pt x="15240" y="209550"/>
                </a:cubicBezTo>
                <a:cubicBezTo>
                  <a:pt x="23670" y="209550"/>
                  <a:pt x="30480" y="201037"/>
                  <a:pt x="30480" y="190500"/>
                </a:cubicBezTo>
                <a:lnTo>
                  <a:pt x="30480" y="133350"/>
                </a:lnTo>
                <a:close/>
                <a:moveTo>
                  <a:pt x="289560" y="114300"/>
                </a:moveTo>
                <a:cubicBezTo>
                  <a:pt x="281130" y="114300"/>
                  <a:pt x="274320" y="122813"/>
                  <a:pt x="274320" y="133350"/>
                </a:cubicBezTo>
                <a:lnTo>
                  <a:pt x="274320" y="190500"/>
                </a:lnTo>
                <a:cubicBezTo>
                  <a:pt x="274320" y="201037"/>
                  <a:pt x="281130" y="209550"/>
                  <a:pt x="289560" y="209550"/>
                </a:cubicBezTo>
                <a:cubicBezTo>
                  <a:pt x="297990" y="209550"/>
                  <a:pt x="304800" y="201037"/>
                  <a:pt x="304800" y="190500"/>
                </a:cubicBezTo>
                <a:lnTo>
                  <a:pt x="304800" y="133350"/>
                </a:lnTo>
                <a:cubicBezTo>
                  <a:pt x="304800" y="122813"/>
                  <a:pt x="297990" y="114300"/>
                  <a:pt x="289560" y="1143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1328400" y="1498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RATE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22000" y="20066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80%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10922000" y="2768600"/>
            <a:ext cx="4318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2000" y="2921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Percentage handled without human intervention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2000" y="4572000"/>
            <a:ext cx="4699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" y="4572000"/>
            <a:ext cx="46990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60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422400" y="4800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 DETECTION RATE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6000" y="53086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95%</a:t>
            </a:r>
            <a:endParaRPr lang="en-US" sz="4000" dirty="0"/>
          </a:p>
        </p:txBody>
      </p:sp>
      <p:sp>
        <p:nvSpPr>
          <p:cNvPr id="32" name="Shape 30"/>
          <p:cNvSpPr/>
          <p:nvPr/>
        </p:nvSpPr>
        <p:spPr>
          <a:xfrm>
            <a:off x="1016000" y="6070600"/>
            <a:ext cx="4191000" cy="25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622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fraud flagged before processing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15000" y="4572000"/>
            <a:ext cx="4699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4572000"/>
            <a:ext cx="4699000" cy="381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6" name="Shape 34"/>
          <p:cNvSpPr/>
          <p:nvPr/>
        </p:nvSpPr>
        <p:spPr>
          <a:xfrm>
            <a:off x="59690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7" name="Text 35"/>
          <p:cNvSpPr/>
          <p:nvPr/>
        </p:nvSpPr>
        <p:spPr>
          <a:xfrm>
            <a:off x="6375400" y="4800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CSAT SCORE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69000" y="53086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4.5/5</a:t>
            </a:r>
            <a:endParaRPr lang="en-US" sz="4000" dirty="0"/>
          </a:p>
        </p:txBody>
      </p:sp>
      <p:sp>
        <p:nvSpPr>
          <p:cNvPr id="39" name="Shape 37"/>
          <p:cNvSpPr/>
          <p:nvPr/>
        </p:nvSpPr>
        <p:spPr>
          <a:xfrm>
            <a:off x="5969000" y="6070600"/>
            <a:ext cx="4191000" cy="254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0" name="Text 38"/>
          <p:cNvSpPr/>
          <p:nvPr/>
        </p:nvSpPr>
        <p:spPr>
          <a:xfrm>
            <a:off x="5969000" y="622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satisfaction rating target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668000" y="4572000"/>
            <a:ext cx="4826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68000" y="4572000"/>
            <a:ext cx="48260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220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57150"/>
                </a:moveTo>
                <a:lnTo>
                  <a:pt x="76200" y="47625"/>
                </a:lnTo>
                <a:cubicBezTo>
                  <a:pt x="76200" y="21312"/>
                  <a:pt x="127397" y="0"/>
                  <a:pt x="190500" y="0"/>
                </a:cubicBezTo>
                <a:cubicBezTo>
                  <a:pt x="253603" y="0"/>
                  <a:pt x="304800" y="21312"/>
                  <a:pt x="304800" y="47625"/>
                </a:cubicBezTo>
                <a:lnTo>
                  <a:pt x="304800" y="57150"/>
                </a:lnTo>
                <a:cubicBezTo>
                  <a:pt x="304800" y="75367"/>
                  <a:pt x="280214" y="91202"/>
                  <a:pt x="244078" y="99239"/>
                </a:cubicBezTo>
                <a:cubicBezTo>
                  <a:pt x="242649" y="97572"/>
                  <a:pt x="241161" y="95964"/>
                  <a:pt x="239673" y="94476"/>
                </a:cubicBezTo>
                <a:cubicBezTo>
                  <a:pt x="230445" y="85368"/>
                  <a:pt x="218539" y="78462"/>
                  <a:pt x="206097" y="73343"/>
                </a:cubicBezTo>
                <a:cubicBezTo>
                  <a:pt x="181154" y="62925"/>
                  <a:pt x="148650" y="57210"/>
                  <a:pt x="114300" y="57210"/>
                </a:cubicBezTo>
                <a:cubicBezTo>
                  <a:pt x="101263" y="57210"/>
                  <a:pt x="88523" y="58043"/>
                  <a:pt x="76319" y="59650"/>
                </a:cubicBezTo>
                <a:cubicBezTo>
                  <a:pt x="76200" y="58876"/>
                  <a:pt x="76200" y="58043"/>
                  <a:pt x="76200" y="57210"/>
                </a:cubicBezTo>
                <a:close/>
                <a:moveTo>
                  <a:pt x="257175" y="210145"/>
                </a:moveTo>
                <a:lnTo>
                  <a:pt x="257175" y="182642"/>
                </a:lnTo>
                <a:cubicBezTo>
                  <a:pt x="266164" y="180320"/>
                  <a:pt x="274618" y="177582"/>
                  <a:pt x="282297" y="174367"/>
                </a:cubicBezTo>
                <a:cubicBezTo>
                  <a:pt x="290155" y="171093"/>
                  <a:pt x="297835" y="167104"/>
                  <a:pt x="304800" y="162282"/>
                </a:cubicBezTo>
                <a:lnTo>
                  <a:pt x="304800" y="171450"/>
                </a:lnTo>
                <a:cubicBezTo>
                  <a:pt x="304800" y="187404"/>
                  <a:pt x="286048" y="201513"/>
                  <a:pt x="257175" y="210145"/>
                </a:cubicBezTo>
                <a:close/>
                <a:moveTo>
                  <a:pt x="257175" y="152995"/>
                </a:moveTo>
                <a:lnTo>
                  <a:pt x="257175" y="133350"/>
                </a:lnTo>
                <a:cubicBezTo>
                  <a:pt x="257175" y="130671"/>
                  <a:pt x="256937" y="128111"/>
                  <a:pt x="256580" y="125611"/>
                </a:cubicBezTo>
                <a:cubicBezTo>
                  <a:pt x="265807" y="123289"/>
                  <a:pt x="274439" y="120491"/>
                  <a:pt x="282297" y="117157"/>
                </a:cubicBezTo>
                <a:cubicBezTo>
                  <a:pt x="290155" y="113824"/>
                  <a:pt x="297835" y="109895"/>
                  <a:pt x="304800" y="105073"/>
                </a:cubicBezTo>
                <a:lnTo>
                  <a:pt x="304800" y="114240"/>
                </a:lnTo>
                <a:cubicBezTo>
                  <a:pt x="304800" y="130195"/>
                  <a:pt x="286048" y="144304"/>
                  <a:pt x="257175" y="152936"/>
                </a:cubicBezTo>
                <a:close/>
                <a:moveTo>
                  <a:pt x="0" y="142875"/>
                </a:moveTo>
                <a:lnTo>
                  <a:pt x="0" y="133350"/>
                </a:lnTo>
                <a:cubicBezTo>
                  <a:pt x="0" y="107037"/>
                  <a:pt x="51197" y="85725"/>
                  <a:pt x="114300" y="85725"/>
                </a:cubicBezTo>
                <a:cubicBezTo>
                  <a:pt x="177403" y="85725"/>
                  <a:pt x="228600" y="107037"/>
                  <a:pt x="228600" y="133350"/>
                </a:cubicBezTo>
                <a:lnTo>
                  <a:pt x="228600" y="142875"/>
                </a:lnTo>
                <a:cubicBezTo>
                  <a:pt x="228600" y="169188"/>
                  <a:pt x="177403" y="190500"/>
                  <a:pt x="114300" y="190500"/>
                </a:cubicBezTo>
                <a:cubicBezTo>
                  <a:pt x="51197" y="190500"/>
                  <a:pt x="0" y="169188"/>
                  <a:pt x="0" y="142875"/>
                </a:cubicBezTo>
                <a:close/>
                <a:moveTo>
                  <a:pt x="228600" y="200025"/>
                </a:moveTo>
                <a:cubicBezTo>
                  <a:pt x="228600" y="226338"/>
                  <a:pt x="177403" y="247650"/>
                  <a:pt x="114300" y="247650"/>
                </a:cubicBezTo>
                <a:cubicBezTo>
                  <a:pt x="51197" y="247650"/>
                  <a:pt x="0" y="226338"/>
                  <a:pt x="0" y="200025"/>
                </a:cubicBezTo>
                <a:lnTo>
                  <a:pt x="0" y="190857"/>
                </a:lnTo>
                <a:cubicBezTo>
                  <a:pt x="6906" y="195679"/>
                  <a:pt x="14585" y="199608"/>
                  <a:pt x="22503" y="202942"/>
                </a:cubicBezTo>
                <a:cubicBezTo>
                  <a:pt x="47446" y="213360"/>
                  <a:pt x="79950" y="219075"/>
                  <a:pt x="114300" y="219075"/>
                </a:cubicBezTo>
                <a:cubicBezTo>
                  <a:pt x="148650" y="219075"/>
                  <a:pt x="181154" y="213300"/>
                  <a:pt x="206097" y="202942"/>
                </a:cubicBezTo>
                <a:cubicBezTo>
                  <a:pt x="213955" y="199668"/>
                  <a:pt x="221635" y="195679"/>
                  <a:pt x="228600" y="190857"/>
                </a:cubicBezTo>
                <a:lnTo>
                  <a:pt x="228600" y="200025"/>
                </a:lnTo>
                <a:close/>
                <a:moveTo>
                  <a:pt x="228600" y="248007"/>
                </a:moveTo>
                <a:lnTo>
                  <a:pt x="228600" y="257175"/>
                </a:lnTo>
                <a:cubicBezTo>
                  <a:pt x="228600" y="283488"/>
                  <a:pt x="177403" y="304800"/>
                  <a:pt x="114300" y="304800"/>
                </a:cubicBezTo>
                <a:cubicBezTo>
                  <a:pt x="51197" y="304800"/>
                  <a:pt x="0" y="283488"/>
                  <a:pt x="0" y="257175"/>
                </a:cubicBezTo>
                <a:lnTo>
                  <a:pt x="0" y="248007"/>
                </a:lnTo>
                <a:cubicBezTo>
                  <a:pt x="6906" y="252829"/>
                  <a:pt x="14585" y="256758"/>
                  <a:pt x="22503" y="260092"/>
                </a:cubicBezTo>
                <a:cubicBezTo>
                  <a:pt x="47446" y="270510"/>
                  <a:pt x="79950" y="276225"/>
                  <a:pt x="114300" y="276225"/>
                </a:cubicBezTo>
                <a:cubicBezTo>
                  <a:pt x="148650" y="276225"/>
                  <a:pt x="181154" y="270450"/>
                  <a:pt x="206097" y="260092"/>
                </a:cubicBezTo>
                <a:cubicBezTo>
                  <a:pt x="213955" y="256818"/>
                  <a:pt x="221635" y="252829"/>
                  <a:pt x="228600" y="248007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44" name="Text 42"/>
          <p:cNvSpPr/>
          <p:nvPr/>
        </p:nvSpPr>
        <p:spPr>
          <a:xfrm>
            <a:off x="11328400" y="4800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PER TICKET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922000" y="53086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$0.00</a:t>
            </a:r>
            <a:endParaRPr lang="en-US" sz="4000" dirty="0"/>
          </a:p>
        </p:txBody>
      </p:sp>
      <p:sp>
        <p:nvSpPr>
          <p:cNvPr id="46" name="Shape 44"/>
          <p:cNvSpPr/>
          <p:nvPr/>
        </p:nvSpPr>
        <p:spPr>
          <a:xfrm>
            <a:off x="10922000" y="6070600"/>
            <a:ext cx="4318000" cy="25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7" name="Text 45"/>
          <p:cNvSpPr/>
          <p:nvPr/>
        </p:nvSpPr>
        <p:spPr>
          <a:xfrm>
            <a:off x="10922000" y="6223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Free-tier LLM inference — no API costs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62000" y="7874000"/>
            <a:ext cx="14732000" cy="50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6000" y="7874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Before: 2–5 day resolution, $15–$40/ticket, 10–15% fraud  →  After: &lt; 30s, $0.00, &lt; 2% fraud  —  All via OpenRouter free tier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09600"/>
            <a:ext cx="533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47800" y="6096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2921000"/>
            <a:ext cx="14732000" cy="25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2286000" cy="482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1500" y="2819400"/>
            <a:ext cx="127000" cy="1270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" y="14224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000" y="21082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2500" y="2387600"/>
            <a:ext cx="1905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3149600"/>
            <a:ext cx="203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Triage Orchestrator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Policy Agent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Resolution Agent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Core Tools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02000" y="1270000"/>
            <a:ext cx="2286000" cy="482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1500" y="2819400"/>
            <a:ext cx="127000" cy="1270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4224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1082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92500" y="2387600"/>
            <a:ext cx="1905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1496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Communication Agent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Brand Voice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SendGrid Integration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42000" y="1270000"/>
            <a:ext cx="2286000" cy="482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21500" y="2819400"/>
            <a:ext cx="127000" cy="127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969000" y="14224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69000" y="21082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2500" y="2387600"/>
            <a:ext cx="1905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969000" y="31496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Escalation Agent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Zendesk Integration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Human Handoff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82000" y="1270000"/>
            <a:ext cx="2286000" cy="482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1500" y="2819400"/>
            <a:ext cx="127000" cy="127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14224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9000" y="21082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72500" y="2387600"/>
            <a:ext cx="1905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9000" y="31496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PII Scrubber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Sentiment Monitor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Refund Cap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22000" y="1270000"/>
            <a:ext cx="2286000" cy="482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001500" y="2819400"/>
            <a:ext cx="127000" cy="1270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11049000" y="14224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049000" y="21082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1112500" y="2387600"/>
            <a:ext cx="1905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11049000" y="31496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Datadog APM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Kafka Streaming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CSAT Pipeline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462000" y="1270000"/>
            <a:ext cx="2032000" cy="482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414500" y="2819400"/>
            <a:ext cx="127000" cy="1270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13525500" y="14224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6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525500" y="21082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7–8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3589000" y="2387600"/>
            <a:ext cx="1778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13525500" y="31496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Load Testing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Chaos Engineering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SLA Validation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2000" y="6477000"/>
            <a:ext cx="14732000" cy="63500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6000" y="64770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STATUS: ALL PHASES COMPLETE — Production-ready, 353 tests passing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609600"/>
            <a:ext cx="584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24000" y="609600"/>
            <a:ext cx="7543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3492500" cy="266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1473200" y="157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20574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Agents SDK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08500" y="1333500"/>
            <a:ext cx="3492500" cy="266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25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5219700" y="157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STORE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2500" y="2057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</a:t>
            </a:r>
            <a:endParaRPr lang="en-US" sz="20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24h TTL, 90d archive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55000" y="1333500"/>
            <a:ext cx="3492500" cy="266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90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22781" y="155575"/>
                  <a:pt x="50800" y="155575"/>
                </a:cubicBezTo>
                <a:lnTo>
                  <a:pt x="304800" y="155575"/>
                </a:lnTo>
                <a:cubicBezTo>
                  <a:pt x="332819" y="155575"/>
                  <a:pt x="355600" y="135642"/>
                  <a:pt x="355600" y="1111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22250" y="72231"/>
                </a:moveTo>
                <a:cubicBezTo>
                  <a:pt x="232764" y="72231"/>
                  <a:pt x="241300" y="79700"/>
                  <a:pt x="241300" y="88900"/>
                </a:cubicBezTo>
                <a:cubicBezTo>
                  <a:pt x="241300" y="98100"/>
                  <a:pt x="232764" y="105569"/>
                  <a:pt x="222250" y="105569"/>
                </a:cubicBezTo>
                <a:cubicBezTo>
                  <a:pt x="211736" y="105569"/>
                  <a:pt x="203200" y="98100"/>
                  <a:pt x="203200" y="88900"/>
                </a:cubicBezTo>
                <a:cubicBezTo>
                  <a:pt x="203200" y="79700"/>
                  <a:pt x="211736" y="72231"/>
                  <a:pt x="222250" y="72231"/>
                </a:cubicBezTo>
                <a:close/>
                <a:moveTo>
                  <a:pt x="266700" y="88900"/>
                </a:moveTo>
                <a:cubicBezTo>
                  <a:pt x="266700" y="79700"/>
                  <a:pt x="275236" y="72231"/>
                  <a:pt x="285750" y="72231"/>
                </a:cubicBezTo>
                <a:cubicBezTo>
                  <a:pt x="296264" y="72231"/>
                  <a:pt x="304800" y="79700"/>
                  <a:pt x="304800" y="88900"/>
                </a:cubicBezTo>
                <a:cubicBezTo>
                  <a:pt x="304800" y="98100"/>
                  <a:pt x="296264" y="105569"/>
                  <a:pt x="285750" y="105569"/>
                </a:cubicBezTo>
                <a:cubicBezTo>
                  <a:pt x="275236" y="105569"/>
                  <a:pt x="266700" y="98100"/>
                  <a:pt x="266700" y="88900"/>
                </a:cubicBezTo>
                <a:close/>
                <a:moveTo>
                  <a:pt x="50800" y="200025"/>
                </a:moveTo>
                <a:cubicBezTo>
                  <a:pt x="22781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244475"/>
                </a:lnTo>
                <a:cubicBezTo>
                  <a:pt x="355600" y="219958"/>
                  <a:pt x="332819" y="200025"/>
                  <a:pt x="304800" y="200025"/>
                </a:cubicBezTo>
                <a:lnTo>
                  <a:pt x="50800" y="200025"/>
                </a:lnTo>
                <a:close/>
                <a:moveTo>
                  <a:pt x="222250" y="250031"/>
                </a:moveTo>
                <a:cubicBezTo>
                  <a:pt x="232764" y="250031"/>
                  <a:pt x="241300" y="257500"/>
                  <a:pt x="241300" y="266700"/>
                </a:cubicBezTo>
                <a:cubicBezTo>
                  <a:pt x="241300" y="275900"/>
                  <a:pt x="232764" y="283369"/>
                  <a:pt x="222250" y="283369"/>
                </a:cubicBezTo>
                <a:cubicBezTo>
                  <a:pt x="211736" y="283369"/>
                  <a:pt x="203200" y="275900"/>
                  <a:pt x="203200" y="266700"/>
                </a:cubicBezTo>
                <a:cubicBezTo>
                  <a:pt x="203200" y="257500"/>
                  <a:pt x="211736" y="250031"/>
                  <a:pt x="222250" y="250031"/>
                </a:cubicBezTo>
                <a:close/>
                <a:moveTo>
                  <a:pt x="266700" y="266700"/>
                </a:moveTo>
                <a:cubicBezTo>
                  <a:pt x="266700" y="257500"/>
                  <a:pt x="275236" y="250031"/>
                  <a:pt x="285750" y="250031"/>
                </a:cubicBezTo>
                <a:cubicBezTo>
                  <a:pt x="296264" y="250031"/>
                  <a:pt x="304800" y="257500"/>
                  <a:pt x="304800" y="266700"/>
                </a:cubicBezTo>
                <a:cubicBezTo>
                  <a:pt x="304800" y="275900"/>
                  <a:pt x="296264" y="283369"/>
                  <a:pt x="285750" y="283369"/>
                </a:cubicBezTo>
                <a:cubicBezTo>
                  <a:pt x="275236" y="283369"/>
                  <a:pt x="266700" y="275900"/>
                  <a:pt x="266700" y="2667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966200" y="157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SERVER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9000" y="20574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+ Uvicorn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001500" y="1333500"/>
            <a:ext cx="3492500" cy="266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555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44450"/>
                </a:moveTo>
                <a:cubicBezTo>
                  <a:pt x="14932" y="44450"/>
                  <a:pt x="0" y="59382"/>
                  <a:pt x="0" y="77788"/>
                </a:cubicBezTo>
                <a:cubicBezTo>
                  <a:pt x="0" y="88275"/>
                  <a:pt x="4931" y="98137"/>
                  <a:pt x="13335" y="104458"/>
                </a:cubicBezTo>
                <a:lnTo>
                  <a:pt x="157798" y="212804"/>
                </a:lnTo>
                <a:cubicBezTo>
                  <a:pt x="169674" y="221694"/>
                  <a:pt x="185926" y="221694"/>
                  <a:pt x="197803" y="212804"/>
                </a:cubicBezTo>
                <a:lnTo>
                  <a:pt x="342265" y="104457"/>
                </a:lnTo>
                <a:cubicBezTo>
                  <a:pt x="350669" y="98137"/>
                  <a:pt x="355600" y="88275"/>
                  <a:pt x="355600" y="77787"/>
                </a:cubicBezTo>
                <a:cubicBezTo>
                  <a:pt x="355600" y="59382"/>
                  <a:pt x="340668" y="44450"/>
                  <a:pt x="322263" y="44450"/>
                </a:cubicBezTo>
                <a:lnTo>
                  <a:pt x="33337" y="44450"/>
                </a:lnTo>
                <a:close/>
                <a:moveTo>
                  <a:pt x="0" y="136128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36128"/>
                </a:lnTo>
                <a:lnTo>
                  <a:pt x="217805" y="239474"/>
                </a:lnTo>
                <a:cubicBezTo>
                  <a:pt x="194121" y="257254"/>
                  <a:pt x="161479" y="257254"/>
                  <a:pt x="137795" y="239474"/>
                </a:cubicBezTo>
                <a:lnTo>
                  <a:pt x="0" y="13612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2712700" y="157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MESSAGE QUEUE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255500" y="2057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Kafka</a:t>
            </a:r>
            <a:endParaRPr lang="en-US" sz="20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channels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2000" y="4254500"/>
            <a:ext cx="3492500" cy="266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00" y="447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" y="4495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6000" y="4978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3.11+</a:t>
            </a:r>
            <a:endParaRPr lang="en-US" sz="20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 typing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08500" y="4254500"/>
            <a:ext cx="3492500" cy="266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62500" y="447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5219700" y="4495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62500" y="4978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Datadog APM</a:t>
            </a:r>
            <a:endParaRPr lang="en-US" sz="20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PagerDuty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255000" y="4254500"/>
            <a:ext cx="3492500" cy="266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9000" y="447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8966200" y="4495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PROVIDER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09000" y="4978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OpenRouter</a:t>
            </a:r>
            <a:endParaRPr lang="en-US" sz="20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tier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2001500" y="4254500"/>
            <a:ext cx="3492500" cy="2667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255500" y="447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33363"/>
                </a:moveTo>
                <a:cubicBezTo>
                  <a:pt x="0" y="288578"/>
                  <a:pt x="39820" y="333375"/>
                  <a:pt x="88900" y="333375"/>
                </a:cubicBezTo>
                <a:lnTo>
                  <a:pt x="276578" y="333375"/>
                </a:lnTo>
                <a:cubicBezTo>
                  <a:pt x="320225" y="333375"/>
                  <a:pt x="355600" y="293578"/>
                  <a:pt x="355600" y="244475"/>
                </a:cubicBezTo>
                <a:cubicBezTo>
                  <a:pt x="355600" y="208637"/>
                  <a:pt x="336770" y="177731"/>
                  <a:pt x="309607" y="163701"/>
                </a:cubicBezTo>
                <a:cubicBezTo>
                  <a:pt x="313743" y="154603"/>
                  <a:pt x="316089" y="144254"/>
                  <a:pt x="316089" y="133350"/>
                </a:cubicBezTo>
                <a:cubicBezTo>
                  <a:pt x="316089" y="96540"/>
                  <a:pt x="289542" y="66675"/>
                  <a:pt x="256822" y="66675"/>
                </a:cubicBezTo>
                <a:cubicBezTo>
                  <a:pt x="245895" y="66675"/>
                  <a:pt x="235708" y="70009"/>
                  <a:pt x="226942" y="75773"/>
                </a:cubicBezTo>
                <a:cubicBezTo>
                  <a:pt x="212064" y="43964"/>
                  <a:pt x="182368" y="22225"/>
                  <a:pt x="148167" y="22225"/>
                </a:cubicBezTo>
                <a:cubicBezTo>
                  <a:pt x="99086" y="22225"/>
                  <a:pt x="59267" y="67022"/>
                  <a:pt x="59267" y="122238"/>
                </a:cubicBezTo>
                <a:cubicBezTo>
                  <a:pt x="59267" y="127794"/>
                  <a:pt x="59699" y="133281"/>
                  <a:pt x="60440" y="138559"/>
                </a:cubicBezTo>
                <a:cubicBezTo>
                  <a:pt x="25312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12712700" y="4495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255500" y="4978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Kubernetes</a:t>
            </a:r>
            <a:endParaRPr lang="en-US" sz="20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HPA, ConfigMap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62000" y="7175500"/>
            <a:ext cx="7175500" cy="635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6000" y="7327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7313" y="11906"/>
                </a:moveTo>
                <a:cubicBezTo>
                  <a:pt x="87313" y="5308"/>
                  <a:pt x="82004" y="0"/>
                  <a:pt x="75406" y="0"/>
                </a:cubicBezTo>
                <a:cubicBezTo>
                  <a:pt x="68808" y="0"/>
                  <a:pt x="63500" y="5308"/>
                  <a:pt x="63500" y="11906"/>
                </a:cubicBezTo>
                <a:lnTo>
                  <a:pt x="63500" y="31750"/>
                </a:lnTo>
                <a:cubicBezTo>
                  <a:pt x="45988" y="31750"/>
                  <a:pt x="31750" y="45988"/>
                  <a:pt x="31750" y="63500"/>
                </a:cubicBezTo>
                <a:lnTo>
                  <a:pt x="11906" y="63500"/>
                </a:lnTo>
                <a:cubicBezTo>
                  <a:pt x="5308" y="63500"/>
                  <a:pt x="0" y="68808"/>
                  <a:pt x="0" y="75406"/>
                </a:cubicBezTo>
                <a:cubicBezTo>
                  <a:pt x="0" y="82004"/>
                  <a:pt x="5308" y="87313"/>
                  <a:pt x="11906" y="87313"/>
                </a:cubicBezTo>
                <a:lnTo>
                  <a:pt x="31750" y="87313"/>
                </a:lnTo>
                <a:lnTo>
                  <a:pt x="31750" y="115094"/>
                </a:lnTo>
                <a:lnTo>
                  <a:pt x="11906" y="115094"/>
                </a:lnTo>
                <a:cubicBezTo>
                  <a:pt x="5308" y="115094"/>
                  <a:pt x="0" y="120402"/>
                  <a:pt x="0" y="127000"/>
                </a:cubicBezTo>
                <a:cubicBezTo>
                  <a:pt x="0" y="133598"/>
                  <a:pt x="5308" y="138906"/>
                  <a:pt x="11906" y="138906"/>
                </a:cubicBezTo>
                <a:lnTo>
                  <a:pt x="31750" y="138906"/>
                </a:lnTo>
                <a:lnTo>
                  <a:pt x="31750" y="166688"/>
                </a:lnTo>
                <a:lnTo>
                  <a:pt x="11906" y="166688"/>
                </a:lnTo>
                <a:cubicBezTo>
                  <a:pt x="5308" y="166688"/>
                  <a:pt x="0" y="171996"/>
                  <a:pt x="0" y="178594"/>
                </a:cubicBezTo>
                <a:cubicBezTo>
                  <a:pt x="0" y="185192"/>
                  <a:pt x="5308" y="190500"/>
                  <a:pt x="11906" y="190500"/>
                </a:cubicBezTo>
                <a:lnTo>
                  <a:pt x="31750" y="190500"/>
                </a:lnTo>
                <a:cubicBezTo>
                  <a:pt x="31750" y="208012"/>
                  <a:pt x="45988" y="222250"/>
                  <a:pt x="63500" y="222250"/>
                </a:cubicBezTo>
                <a:lnTo>
                  <a:pt x="63500" y="242094"/>
                </a:lnTo>
                <a:cubicBezTo>
                  <a:pt x="63500" y="248692"/>
                  <a:pt x="68808" y="254000"/>
                  <a:pt x="75406" y="254000"/>
                </a:cubicBezTo>
                <a:cubicBezTo>
                  <a:pt x="82004" y="254000"/>
                  <a:pt x="87313" y="248692"/>
                  <a:pt x="87313" y="242094"/>
                </a:cubicBezTo>
                <a:lnTo>
                  <a:pt x="87313" y="222250"/>
                </a:lnTo>
                <a:lnTo>
                  <a:pt x="115094" y="222250"/>
                </a:lnTo>
                <a:lnTo>
                  <a:pt x="115094" y="242094"/>
                </a:lnTo>
                <a:cubicBezTo>
                  <a:pt x="115094" y="248692"/>
                  <a:pt x="120402" y="254000"/>
                  <a:pt x="127000" y="254000"/>
                </a:cubicBezTo>
                <a:cubicBezTo>
                  <a:pt x="133598" y="254000"/>
                  <a:pt x="138906" y="248692"/>
                  <a:pt x="138906" y="242094"/>
                </a:cubicBezTo>
                <a:lnTo>
                  <a:pt x="138906" y="222250"/>
                </a:lnTo>
                <a:lnTo>
                  <a:pt x="166688" y="222250"/>
                </a:lnTo>
                <a:lnTo>
                  <a:pt x="166688" y="242094"/>
                </a:lnTo>
                <a:cubicBezTo>
                  <a:pt x="166688" y="248692"/>
                  <a:pt x="171996" y="254000"/>
                  <a:pt x="178594" y="254000"/>
                </a:cubicBezTo>
                <a:cubicBezTo>
                  <a:pt x="185192" y="254000"/>
                  <a:pt x="190500" y="248692"/>
                  <a:pt x="190500" y="242094"/>
                </a:cubicBezTo>
                <a:lnTo>
                  <a:pt x="190500" y="222250"/>
                </a:lnTo>
                <a:cubicBezTo>
                  <a:pt x="208012" y="222250"/>
                  <a:pt x="222250" y="208012"/>
                  <a:pt x="222250" y="190500"/>
                </a:cubicBezTo>
                <a:lnTo>
                  <a:pt x="242094" y="190500"/>
                </a:lnTo>
                <a:cubicBezTo>
                  <a:pt x="248692" y="190500"/>
                  <a:pt x="254000" y="185192"/>
                  <a:pt x="254000" y="178594"/>
                </a:cubicBezTo>
                <a:cubicBezTo>
                  <a:pt x="254000" y="171996"/>
                  <a:pt x="248692" y="166688"/>
                  <a:pt x="242094" y="166688"/>
                </a:cubicBezTo>
                <a:lnTo>
                  <a:pt x="222250" y="166688"/>
                </a:lnTo>
                <a:lnTo>
                  <a:pt x="222250" y="138906"/>
                </a:lnTo>
                <a:lnTo>
                  <a:pt x="242094" y="138906"/>
                </a:lnTo>
                <a:cubicBezTo>
                  <a:pt x="248692" y="138906"/>
                  <a:pt x="254000" y="133598"/>
                  <a:pt x="254000" y="127000"/>
                </a:cubicBezTo>
                <a:cubicBezTo>
                  <a:pt x="254000" y="120402"/>
                  <a:pt x="248692" y="115094"/>
                  <a:pt x="242094" y="115094"/>
                </a:cubicBezTo>
                <a:lnTo>
                  <a:pt x="222250" y="115094"/>
                </a:lnTo>
                <a:lnTo>
                  <a:pt x="222250" y="87313"/>
                </a:lnTo>
                <a:lnTo>
                  <a:pt x="242094" y="87313"/>
                </a:lnTo>
                <a:cubicBezTo>
                  <a:pt x="248692" y="87313"/>
                  <a:pt x="254000" y="82004"/>
                  <a:pt x="254000" y="75406"/>
                </a:cubicBezTo>
                <a:cubicBezTo>
                  <a:pt x="254000" y="68808"/>
                  <a:pt x="248692" y="63500"/>
                  <a:pt x="242094" y="63500"/>
                </a:cubicBezTo>
                <a:lnTo>
                  <a:pt x="222250" y="63500"/>
                </a:lnTo>
                <a:cubicBezTo>
                  <a:pt x="222250" y="45988"/>
                  <a:pt x="208012" y="31750"/>
                  <a:pt x="190500" y="31750"/>
                </a:cubicBezTo>
                <a:lnTo>
                  <a:pt x="190500" y="11906"/>
                </a:lnTo>
                <a:cubicBezTo>
                  <a:pt x="190500" y="5308"/>
                  <a:pt x="185192" y="0"/>
                  <a:pt x="178594" y="0"/>
                </a:cubicBezTo>
                <a:cubicBezTo>
                  <a:pt x="171996" y="0"/>
                  <a:pt x="166688" y="5308"/>
                  <a:pt x="166688" y="11906"/>
                </a:cubicBezTo>
                <a:lnTo>
                  <a:pt x="166688" y="31750"/>
                </a:lnTo>
                <a:lnTo>
                  <a:pt x="138906" y="31750"/>
                </a:lnTo>
                <a:lnTo>
                  <a:pt x="138906" y="11906"/>
                </a:lnTo>
                <a:cubicBezTo>
                  <a:pt x="138906" y="5308"/>
                  <a:pt x="133598" y="0"/>
                  <a:pt x="127000" y="0"/>
                </a:cubicBezTo>
                <a:cubicBezTo>
                  <a:pt x="120402" y="0"/>
                  <a:pt x="115094" y="5308"/>
                  <a:pt x="115094" y="11906"/>
                </a:cubicBezTo>
                <a:lnTo>
                  <a:pt x="115094" y="31750"/>
                </a:lnTo>
                <a:lnTo>
                  <a:pt x="87313" y="31750"/>
                </a:lnTo>
                <a:lnTo>
                  <a:pt x="87313" y="11906"/>
                </a:lnTo>
                <a:close/>
                <a:moveTo>
                  <a:pt x="79375" y="63500"/>
                </a:moveTo>
                <a:lnTo>
                  <a:pt x="174625" y="63500"/>
                </a:lnTo>
                <a:cubicBezTo>
                  <a:pt x="183406" y="63500"/>
                  <a:pt x="190500" y="70594"/>
                  <a:pt x="190500" y="79375"/>
                </a:cubicBezTo>
                <a:lnTo>
                  <a:pt x="190500" y="174625"/>
                </a:lnTo>
                <a:cubicBezTo>
                  <a:pt x="190500" y="183406"/>
                  <a:pt x="183406" y="190500"/>
                  <a:pt x="174625" y="190500"/>
                </a:cubicBezTo>
                <a:lnTo>
                  <a:pt x="79375" y="190500"/>
                </a:lnTo>
                <a:cubicBezTo>
                  <a:pt x="70594" y="190500"/>
                  <a:pt x="63500" y="183406"/>
                  <a:pt x="63500" y="174625"/>
                </a:cubicBezTo>
                <a:lnTo>
                  <a:pt x="63500" y="79375"/>
                </a:lnTo>
                <a:cubicBezTo>
                  <a:pt x="63500" y="70594"/>
                  <a:pt x="70594" y="63500"/>
                  <a:pt x="79375" y="63500"/>
                </a:cubicBezTo>
                <a:close/>
                <a:moveTo>
                  <a:pt x="87313" y="87313"/>
                </a:moveTo>
                <a:lnTo>
                  <a:pt x="87313" y="166688"/>
                </a:lnTo>
                <a:lnTo>
                  <a:pt x="166688" y="166688"/>
                </a:lnTo>
                <a:lnTo>
                  <a:pt x="166688" y="87313"/>
                </a:lnTo>
                <a:lnTo>
                  <a:pt x="87313" y="87313"/>
                </a:ln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40" name="Text 38"/>
          <p:cNvSpPr/>
          <p:nvPr/>
        </p:nvSpPr>
        <p:spPr>
          <a:xfrm>
            <a:off x="1371600" y="7175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openai/gpt-oss-120b:free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18500" y="7175500"/>
            <a:ext cx="7175500" cy="635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72500" y="7327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6286" y="15875"/>
                </a:moveTo>
                <a:cubicBezTo>
                  <a:pt x="16272" y="15875"/>
                  <a:pt x="0" y="30113"/>
                  <a:pt x="0" y="47625"/>
                </a:cubicBezTo>
                <a:lnTo>
                  <a:pt x="0" y="129034"/>
                </a:lnTo>
                <a:cubicBezTo>
                  <a:pt x="10262" y="122734"/>
                  <a:pt x="22792" y="119063"/>
                  <a:pt x="36286" y="119063"/>
                </a:cubicBezTo>
                <a:lnTo>
                  <a:pt x="217714" y="119063"/>
                </a:lnTo>
                <a:cubicBezTo>
                  <a:pt x="231208" y="119063"/>
                  <a:pt x="243738" y="122734"/>
                  <a:pt x="254000" y="129034"/>
                </a:cubicBezTo>
                <a:lnTo>
                  <a:pt x="254000" y="47625"/>
                </a:lnTo>
                <a:cubicBezTo>
                  <a:pt x="254000" y="30113"/>
                  <a:pt x="237728" y="15875"/>
                  <a:pt x="217714" y="15875"/>
                </a:cubicBezTo>
                <a:lnTo>
                  <a:pt x="36286" y="15875"/>
                </a:lnTo>
                <a:close/>
                <a:moveTo>
                  <a:pt x="254000" y="174625"/>
                </a:moveTo>
                <a:cubicBezTo>
                  <a:pt x="254000" y="157113"/>
                  <a:pt x="237728" y="142875"/>
                  <a:pt x="217714" y="142875"/>
                </a:cubicBezTo>
                <a:lnTo>
                  <a:pt x="36286" y="142875"/>
                </a:lnTo>
                <a:cubicBezTo>
                  <a:pt x="16272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6272" y="238125"/>
                  <a:pt x="36286" y="238125"/>
                </a:cubicBezTo>
                <a:lnTo>
                  <a:pt x="217714" y="238125"/>
                </a:lnTo>
                <a:cubicBezTo>
                  <a:pt x="237728" y="238125"/>
                  <a:pt x="254000" y="223887"/>
                  <a:pt x="254000" y="206375"/>
                </a:cubicBezTo>
                <a:lnTo>
                  <a:pt x="254000" y="174625"/>
                </a:lnTo>
                <a:close/>
                <a:moveTo>
                  <a:pt x="127000" y="190500"/>
                </a:moveTo>
                <a:cubicBezTo>
                  <a:pt x="127000" y="181738"/>
                  <a:pt x="135130" y="174625"/>
                  <a:pt x="145143" y="174625"/>
                </a:cubicBezTo>
                <a:cubicBezTo>
                  <a:pt x="155156" y="174625"/>
                  <a:pt x="163286" y="181738"/>
                  <a:pt x="163286" y="190500"/>
                </a:cubicBezTo>
                <a:cubicBezTo>
                  <a:pt x="163286" y="199262"/>
                  <a:pt x="155156" y="206375"/>
                  <a:pt x="145143" y="206375"/>
                </a:cubicBezTo>
                <a:cubicBezTo>
                  <a:pt x="135130" y="206375"/>
                  <a:pt x="127000" y="199262"/>
                  <a:pt x="127000" y="190500"/>
                </a:cubicBezTo>
                <a:close/>
                <a:moveTo>
                  <a:pt x="199571" y="174625"/>
                </a:moveTo>
                <a:cubicBezTo>
                  <a:pt x="209585" y="174625"/>
                  <a:pt x="217714" y="181738"/>
                  <a:pt x="217714" y="190500"/>
                </a:cubicBezTo>
                <a:cubicBezTo>
                  <a:pt x="217714" y="199262"/>
                  <a:pt x="209585" y="206375"/>
                  <a:pt x="199571" y="206375"/>
                </a:cubicBezTo>
                <a:cubicBezTo>
                  <a:pt x="189558" y="206375"/>
                  <a:pt x="181429" y="199262"/>
                  <a:pt x="181429" y="190500"/>
                </a:cubicBezTo>
                <a:cubicBezTo>
                  <a:pt x="181429" y="181738"/>
                  <a:pt x="189558" y="174625"/>
                  <a:pt x="199571" y="174625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43" name="Text 41"/>
          <p:cNvSpPr/>
          <p:nvPr/>
        </p:nvSpPr>
        <p:spPr>
          <a:xfrm>
            <a:off x="8928100" y="7175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PostgreSQL / File / Memory (3 backends)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609600"/>
            <a:ext cx="584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24000" y="609600"/>
            <a:ext cx="11353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API PROVIDER JOURNEY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1176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Fixes — From Paid to Free (Zero Cost)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1587500"/>
            <a:ext cx="3429000" cy="228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000" y="16891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9000" y="19812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GPT-4o / GPT-4o-mini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2565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Paid — $0.08–$0.30/ticket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7200" y="2692400"/>
            <a:ext cx="381000" cy="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699000" y="1587500"/>
            <a:ext cx="3429000" cy="228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6000" y="16891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ATTEMPT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6000" y="19812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DeepSeek v4-flash-free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6000" y="25654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but limited — inconsistent outputs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04200" y="2692400"/>
            <a:ext cx="381000" cy="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636000" y="1587500"/>
            <a:ext cx="3429000" cy="228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63000" y="16891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ATTEMPT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63000" y="19812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 2.0 Flash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0" y="25654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via Google — SDK compat issues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141200" y="2692400"/>
            <a:ext cx="381000" cy="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2573000" y="1587500"/>
            <a:ext cx="2921000" cy="228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00000" y="16891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700000" y="19812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gpt-oss-120b:free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700000" y="25654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via OpenRouter — 30 RPM, 1K RPD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2000" y="425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SMART FIXES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4762500"/>
            <a:ext cx="4699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2500" y="4889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48895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Name Parsing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2500" y="5308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providers use names with '/' (e.g. openai/gpt-oss-120b:free). The SDK's MultiProvider misinterprets '/' as a provider prefix.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2500" y="6413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unknown_prefix_mode='model_id' — tells SDK to pass full model name through as-is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15000" y="4762500"/>
            <a:ext cx="4699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05500" y="4889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24600" y="488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response_format + Tools Conflict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05500" y="5308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Free-tier providers reject requests combining structured output with tool definitions. SDK sends both by default.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05500" y="6413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Monkey-patch _fetch_response to strip output_schema when tools/handoffs are present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668000" y="4762500"/>
            <a:ext cx="4826000" cy="292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833100" y="4889500"/>
            <a:ext cx="43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277600" y="48895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Responses API Not Supported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858500" y="53086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SDK defaults to OpenAI's Responses API, which free providers don't support. All requests fail with 404/405.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858500" y="64135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74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set_default_openai_api('chat_completions') — forces Chat Completions API at startup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863600" y="609600"/>
            <a:ext cx="609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24000" y="609600"/>
            <a:ext cx="11353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 COMPLIANCE — 100%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462000" y="5334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60960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3241040"/>
                <a:gridCol w="1767840"/>
                <a:gridCol w="38303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Component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Spec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Delivered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Delta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 defined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 built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+1 Billing Agent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Tools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 defined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 built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+tracking, +faq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Guardrails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 defined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 + fraud in tools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Fraud in check_return_policy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Handoff Flow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Diagram specified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Implemented exactly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Keyword-first enhancement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Session Store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Redis specified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Redis + 3 DB backends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Postgres/File/Memory added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LLM 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GPT-4o / GPT-4o-mini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gpt-oss-120b:free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$0.00 vs $0.08-0.30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K8s Manifests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Deployment, HPA, etc.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 manifests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Exact match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Kafka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Topic per channel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 consumers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Exact match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Datadog APM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Tracing + monitoring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Spans + 3 monitors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Exact match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CSAT Pipeline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 5 deliverable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261-line implementation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Fully implemented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7620000"/>
            <a:ext cx="14732000" cy="50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15 components verified against spec — every requirement met or exceeded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609600"/>
            <a:ext cx="584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24000" y="609600"/>
            <a:ext cx="11353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THE SPEC — WHAT WE ADDED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8740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270000"/>
            <a:ext cx="7874000" cy="381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8113" y="204787"/>
                </a:moveTo>
                <a:lnTo>
                  <a:pt x="138113" y="166688"/>
                </a:lnTo>
                <a:lnTo>
                  <a:pt x="100013" y="166688"/>
                </a:lnTo>
                <a:cubicBezTo>
                  <a:pt x="92095" y="166688"/>
                  <a:pt x="85725" y="160318"/>
                  <a:pt x="85725" y="152400"/>
                </a:cubicBezTo>
                <a:cubicBezTo>
                  <a:pt x="85725" y="144482"/>
                  <a:pt x="92095" y="138113"/>
                  <a:pt x="100013" y="138113"/>
                </a:cubicBezTo>
                <a:lnTo>
                  <a:pt x="138113" y="138113"/>
                </a:lnTo>
                <a:lnTo>
                  <a:pt x="138113" y="100013"/>
                </a:lnTo>
                <a:cubicBezTo>
                  <a:pt x="138113" y="92095"/>
                  <a:pt x="144482" y="85725"/>
                  <a:pt x="152400" y="85725"/>
                </a:cubicBezTo>
                <a:cubicBezTo>
                  <a:pt x="160318" y="85725"/>
                  <a:pt x="166688" y="92095"/>
                  <a:pt x="166688" y="100013"/>
                </a:cubicBezTo>
                <a:lnTo>
                  <a:pt x="166688" y="138113"/>
                </a:lnTo>
                <a:lnTo>
                  <a:pt x="204787" y="138113"/>
                </a:lnTo>
                <a:cubicBezTo>
                  <a:pt x="212705" y="138113"/>
                  <a:pt x="219075" y="144482"/>
                  <a:pt x="219075" y="152400"/>
                </a:cubicBezTo>
                <a:cubicBezTo>
                  <a:pt x="219075" y="160318"/>
                  <a:pt x="212705" y="166688"/>
                  <a:pt x="204787" y="166688"/>
                </a:cubicBezTo>
                <a:lnTo>
                  <a:pt x="166688" y="166688"/>
                </a:lnTo>
                <a:lnTo>
                  <a:pt x="166688" y="204787"/>
                </a:lnTo>
                <a:cubicBezTo>
                  <a:pt x="166688" y="212705"/>
                  <a:pt x="160318" y="219075"/>
                  <a:pt x="152400" y="219075"/>
                </a:cubicBezTo>
                <a:cubicBezTo>
                  <a:pt x="144482" y="219075"/>
                  <a:pt x="138113" y="212705"/>
                  <a:pt x="138113" y="204787"/>
                </a:cubicBez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1422400" y="1498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ADDITIONS (NOT IN ORIGINAL SPEC)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006600"/>
            <a:ext cx="7366000" cy="590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Billing Agent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M5 agent for billing disputes — extended triage to cover billing intents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tracking_lookup Tool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order tracking — supports order_status intent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faq_lookup Tool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FAQ search — supports general_inquiry intent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Keyword-First Classification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intent detection — zero-cost, avoids SDK limitation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Database Abstraction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backends (Postgres, File, Memory) — flexible deployment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CSAT Pipeline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CSAT computation with Datadog metrics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Presentation Frontend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interactive HTML frontend — live chat, scenarios, guardrail demos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353-Test Suite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tests across all agents, tools, guardrails — 100% pass 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90000" y="1270000"/>
            <a:ext cx="6604000" cy="6731000"/>
          </a:xfrm>
          <a:prstGeom prst="rect">
            <a:avLst/>
          </a:prstGeom>
          <a:solidFill>
            <a:srgbClr val="111D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90000" y="1270000"/>
            <a:ext cx="660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149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-19050"/>
                </a:moveTo>
                <a:cubicBezTo>
                  <a:pt x="180437" y="-19050"/>
                  <a:pt x="203200" y="6558"/>
                  <a:pt x="203200" y="38100"/>
                </a:cubicBezTo>
                <a:cubicBezTo>
                  <a:pt x="203200" y="69642"/>
                  <a:pt x="180437" y="95250"/>
                  <a:pt x="152400" y="95250"/>
                </a:cubicBezTo>
                <a:cubicBezTo>
                  <a:pt x="124363" y="95250"/>
                  <a:pt x="101600" y="69642"/>
                  <a:pt x="101600" y="38100"/>
                </a:cubicBezTo>
                <a:cubicBezTo>
                  <a:pt x="101600" y="6558"/>
                  <a:pt x="124363" y="-19050"/>
                  <a:pt x="152400" y="-19050"/>
                </a:cubicBezTo>
                <a:close/>
                <a:moveTo>
                  <a:pt x="25400" y="180975"/>
                </a:moveTo>
                <a:cubicBezTo>
                  <a:pt x="25400" y="139244"/>
                  <a:pt x="50271" y="102751"/>
                  <a:pt x="87365" y="82808"/>
                </a:cubicBezTo>
                <a:cubicBezTo>
                  <a:pt x="100753" y="107394"/>
                  <a:pt x="124883" y="123825"/>
                  <a:pt x="152400" y="123825"/>
                </a:cubicBezTo>
                <a:cubicBezTo>
                  <a:pt x="181875" y="123825"/>
                  <a:pt x="207486" y="104954"/>
                  <a:pt x="220133" y="77391"/>
                </a:cubicBezTo>
                <a:cubicBezTo>
                  <a:pt x="228494" y="70664"/>
                  <a:pt x="238707" y="66675"/>
                  <a:pt x="249767" y="66675"/>
                </a:cubicBezTo>
                <a:lnTo>
                  <a:pt x="260085" y="66675"/>
                </a:lnTo>
                <a:cubicBezTo>
                  <a:pt x="265589" y="66675"/>
                  <a:pt x="269610" y="72509"/>
                  <a:pt x="268288" y="78522"/>
                </a:cubicBezTo>
                <a:lnTo>
                  <a:pt x="259239" y="119182"/>
                </a:lnTo>
                <a:cubicBezTo>
                  <a:pt x="264478" y="126563"/>
                  <a:pt x="268870" y="134481"/>
                  <a:pt x="272150" y="142875"/>
                </a:cubicBezTo>
                <a:lnTo>
                  <a:pt x="283633" y="142875"/>
                </a:lnTo>
                <a:cubicBezTo>
                  <a:pt x="290671" y="142875"/>
                  <a:pt x="296333" y="149245"/>
                  <a:pt x="296333" y="157163"/>
                </a:cubicBezTo>
                <a:lnTo>
                  <a:pt x="296333" y="223838"/>
                </a:lnTo>
                <a:cubicBezTo>
                  <a:pt x="296333" y="231755"/>
                  <a:pt x="290671" y="238125"/>
                  <a:pt x="283633" y="238125"/>
                </a:cubicBezTo>
                <a:lnTo>
                  <a:pt x="262467" y="238125"/>
                </a:lnTo>
                <a:cubicBezTo>
                  <a:pt x="253735" y="251222"/>
                  <a:pt x="242094" y="261699"/>
                  <a:pt x="228600" y="268307"/>
                </a:cubicBezTo>
                <a:lnTo>
                  <a:pt x="228600" y="285750"/>
                </a:lnTo>
                <a:cubicBezTo>
                  <a:pt x="228600" y="296287"/>
                  <a:pt x="221033" y="304800"/>
                  <a:pt x="211667" y="304800"/>
                </a:cubicBezTo>
                <a:lnTo>
                  <a:pt x="194204" y="304800"/>
                </a:lnTo>
                <a:cubicBezTo>
                  <a:pt x="186637" y="304800"/>
                  <a:pt x="180022" y="299145"/>
                  <a:pt x="177906" y="290989"/>
                </a:cubicBezTo>
                <a:lnTo>
                  <a:pt x="174149" y="276225"/>
                </a:lnTo>
                <a:lnTo>
                  <a:pt x="130598" y="276225"/>
                </a:lnTo>
                <a:lnTo>
                  <a:pt x="126841" y="290989"/>
                </a:lnTo>
                <a:cubicBezTo>
                  <a:pt x="124778" y="299145"/>
                  <a:pt x="118163" y="304800"/>
                  <a:pt x="110596" y="304800"/>
                </a:cubicBezTo>
                <a:lnTo>
                  <a:pt x="93133" y="304800"/>
                </a:lnTo>
                <a:cubicBezTo>
                  <a:pt x="83767" y="304800"/>
                  <a:pt x="76200" y="296287"/>
                  <a:pt x="76200" y="285750"/>
                </a:cubicBezTo>
                <a:lnTo>
                  <a:pt x="76200" y="268307"/>
                </a:lnTo>
                <a:cubicBezTo>
                  <a:pt x="46302" y="253603"/>
                  <a:pt x="25400" y="220028"/>
                  <a:pt x="25400" y="180975"/>
                </a:cubicBezTo>
                <a:close/>
                <a:moveTo>
                  <a:pt x="224367" y="190500"/>
                </a:moveTo>
                <a:cubicBezTo>
                  <a:pt x="231376" y="190500"/>
                  <a:pt x="237067" y="184098"/>
                  <a:pt x="237067" y="176212"/>
                </a:cubicBezTo>
                <a:cubicBezTo>
                  <a:pt x="237067" y="168327"/>
                  <a:pt x="231376" y="161925"/>
                  <a:pt x="224367" y="161925"/>
                </a:cubicBezTo>
                <a:cubicBezTo>
                  <a:pt x="217357" y="161925"/>
                  <a:pt x="211667" y="168327"/>
                  <a:pt x="211667" y="176212"/>
                </a:cubicBezTo>
                <a:cubicBezTo>
                  <a:pt x="211667" y="184098"/>
                  <a:pt x="217357" y="190500"/>
                  <a:pt x="224367" y="1905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95504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COMPARISON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2032000"/>
          <a:ext cx="6096000" cy="2286000"/>
        </p:xfrm>
        <a:graphic>
          <a:graphicData uri="http://schemas.openxmlformats.org/drawingml/2006/table">
            <a:tbl>
              <a:tblPr/>
              <a:tblGrid>
                <a:gridCol w="24384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Spec Target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Our Result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Cost per ticket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$0.08–$0.30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$0.00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Annual (10K tickets)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$800–$3,000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$0.00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Provider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GPT-4o (paid)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OpenRouter (free)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9144000" y="4635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TARGETS EXCEEDED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44000" y="5080000"/>
            <a:ext cx="609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CSAT Target: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&gt; 4.5 / 5.0 (spec requirement)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Target: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&gt; 80% (spec requirement)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 Target: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&lt; 30 seconds (spec requirement)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targets met or exceeded with zero API costs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62000" y="8826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01 — Customer Support &amp; Returns Orchestrator  |  Confidential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rotWithShape="1" flip="none">
            <a:gsLst>
              <a:gs pos="0">
                <a:srgbClr val="0E7490"/>
              </a:gs>
              <a:gs pos="50000">
                <a:srgbClr val="06B6D4"/>
              </a:gs>
              <a:gs pos="100000">
                <a:srgbClr val="0E749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-1016000" y="-1016000"/>
            <a:ext cx="3810000" cy="3810000"/>
          </a:xfrm>
          <a:prstGeom prst="ellipse">
            <a:avLst/>
          </a:prstGeom>
          <a:gradFill rotWithShape="1" flip="none">
            <a:gsLst>
              <a:gs pos="0">
                <a:srgbClr val="0E7490"/>
              </a:gs>
              <a:gs pos="100000">
                <a:srgbClr val="0B11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Shape 2"/>
          <p:cNvSpPr/>
          <p:nvPr/>
        </p:nvSpPr>
        <p:spPr>
          <a:xfrm>
            <a:off x="13462000" y="-762000"/>
            <a:ext cx="3556000" cy="3556000"/>
          </a:xfrm>
          <a:prstGeom prst="ellipse">
            <a:avLst/>
          </a:prstGeom>
          <a:gradFill rotWithShape="1" flip="none">
            <a:gsLst>
              <a:gs pos="0">
                <a:srgbClr val="0E7490"/>
              </a:gs>
              <a:gs pos="100000">
                <a:srgbClr val="0B11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Shape 3"/>
          <p:cNvSpPr/>
          <p:nvPr/>
        </p:nvSpPr>
        <p:spPr>
          <a:xfrm>
            <a:off x="13335000" y="7112000"/>
            <a:ext cx="3683000" cy="3683000"/>
          </a:xfrm>
          <a:prstGeom prst="ellipse">
            <a:avLst/>
          </a:prstGeom>
          <a:gradFill rotWithShape="1" flip="none">
            <a:gsLst>
              <a:gs pos="0">
                <a:srgbClr val="0E7490"/>
              </a:gs>
              <a:gs pos="100000">
                <a:srgbClr val="0B11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6" name="Text 4"/>
          <p:cNvSpPr/>
          <p:nvPr/>
        </p:nvSpPr>
        <p:spPr>
          <a:xfrm>
            <a:off x="3048000" y="2032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spc="8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83000" y="3238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74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Support &amp; Returns Orchestrator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0" y="3937000"/>
            <a:ext cx="2540000" cy="25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0" y="4191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35500" y="4953000"/>
            <a:ext cx="558800" cy="5588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4635500" y="4953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1200" y="5588000"/>
            <a:ext cx="787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Khizar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8300" y="4953000"/>
            <a:ext cx="558800" cy="558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48300" y="4953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0" y="5588000"/>
            <a:ext cx="787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Mustafa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1100" y="4953000"/>
            <a:ext cx="558800" cy="558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1100" y="4953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46800" y="5588000"/>
            <a:ext cx="787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Hammad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73900" y="4953000"/>
            <a:ext cx="558800" cy="558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7073900" y="4953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59600" y="5588000"/>
            <a:ext cx="787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Ammar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86700" y="4953000"/>
            <a:ext cx="558800" cy="5588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7886700" y="4953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0" y="5588000"/>
            <a:ext cx="787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8000" y="6350000"/>
            <a:ext cx="5080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048000" y="6604000"/>
            <a:ext cx="1016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github.com/your-org/agent-01-customer-support  •  Built with OpenAI Agents SDK  •  2026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01 — Customer Support &amp; Returns Orchestrator</dc:title>
  <dc:subject>Agent 01 — Customer Support &amp; Returns Orchestrator</dc:subject>
  <dc:creator>Kimi</dc:creator>
  <cp:lastModifiedBy>Kimi</cp:lastModifiedBy>
  <cp:revision>1</cp:revision>
  <dcterms:created xsi:type="dcterms:W3CDTF">2026-06-26T14:26:20Z</dcterms:created>
  <dcterms:modified xsi:type="dcterms:W3CDTF">2026-06-26T14:26:20Z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{"Label":"Agent 01 — Customer Support &amp; Returns Orchestrator","ContentProducer":"001191110108MACG2KBH8F10000","ProduceID":"19f0439c-a892-8ca6-8000-00003e1f1c2b","ReservedCode1":"","ContentPropagator":"001191110108MACG2KBH8F20000","PropagateID":"19f0436e-cbf2-8b26-8000-09a81926fe92","ReservedCode2":""}</vt:lpwstr>
  </property>
</Properties>
</file>